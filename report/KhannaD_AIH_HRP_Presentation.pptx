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18"/>
    <p:restoredTop sz="76575"/>
  </p:normalViewPr>
  <p:slideViewPr>
    <p:cSldViewPr snapToGrid="0" snapToObjects="1">
      <p:cViewPr varScale="1">
        <p:scale>
          <a:sx n="96" d="100"/>
          <a:sy n="96" d="100"/>
        </p:scale>
        <p:origin x="1808"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2861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Welcome. This is an AI-in-Healthcare high-risk project on a vision-language model powered Concept Bottleneck Model for dermatology, audited for Fitzpatrick skin-tone fairness. </a:t>
            </a:r>
          </a:p>
          <a:p>
            <a:pPr marL="171450" indent="-171450">
              <a:buFont typeface="Arial" panose="020B0604020202020204" pitchFamily="34" charset="0"/>
              <a:buChar char="•"/>
            </a:pPr>
            <a:r>
              <a:rPr lang="en-US" dirty="0"/>
              <a:t>Dermatology AI underperforms on darker skin; current audits stop at accuracy-level numbers with no handle on WHICH clinical feature drives the gap. </a:t>
            </a:r>
          </a:p>
          <a:p>
            <a:pPr marL="171450" indent="-171450">
              <a:buFont typeface="Arial" panose="020B0604020202020204" pitchFamily="34" charset="0"/>
              <a:buChar char="•"/>
            </a:pPr>
            <a:r>
              <a:rPr lang="en-US" dirty="0"/>
              <a:t>This project builds a diagnosis that explains itself through 9 human-readable concepts and audits fairness at the concept layer as well as the diagnosis layer.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clinical starting point for this project is that dermatology AI underperforms on darker skin as per the 2022 Science Advances paper  by </a:t>
            </a:r>
            <a:r>
              <a:rPr lang="en-US" dirty="0" err="1"/>
              <a:t>Daneshjou</a:t>
            </a:r>
            <a:r>
              <a:rPr lang="en-US" dirty="0"/>
              <a:t>. </a:t>
            </a:r>
          </a:p>
          <a:p>
            <a:pPr marL="171450" indent="-171450">
              <a:buFont typeface="Arial" panose="020B0604020202020204" pitchFamily="34" charset="0"/>
              <a:buChar char="•"/>
            </a:pPr>
            <a:r>
              <a:rPr lang="en-US" dirty="0"/>
              <a:t>Saliency methods like Grad-CAM tell you where the model looked but not what it understood and that matters for a clinician audit. </a:t>
            </a:r>
          </a:p>
          <a:p>
            <a:pPr marL="171450" indent="-171450">
              <a:buFont typeface="Arial" panose="020B0604020202020204" pitchFamily="34" charset="0"/>
              <a:buChar char="•"/>
            </a:pPr>
            <a:r>
              <a:rPr lang="en-US" dirty="0"/>
              <a:t>And standard fairness audits stop at diagnosis accuracy; they give you a gap number with no remediation handle. </a:t>
            </a:r>
          </a:p>
          <a:p>
            <a:pPr marL="171450" indent="-171450">
              <a:buFont typeface="Arial" panose="020B0604020202020204" pitchFamily="34" charset="0"/>
              <a:buChar char="•"/>
            </a:pPr>
            <a:r>
              <a:rPr lang="en-US" dirty="0"/>
              <a:t>Concept Bottleneck Models let you route every prediction through a handful of named clinical concepts, and my thesis is that doing so at scale lets us audit fairness at the concept layer, not just the output layer. </a:t>
            </a:r>
          </a:p>
          <a:p>
            <a:pPr marL="171450" indent="-171450">
              <a:buFont typeface="Arial" panose="020B0604020202020204" pitchFamily="34" charset="0"/>
              <a:buChar char="•"/>
            </a:pPr>
            <a:r>
              <a:rPr lang="en-US" dirty="0"/>
              <a:t>On the right, the four research questions we are trying to answer.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Now, Let’s walkthrough the pipeline. </a:t>
            </a:r>
          </a:p>
          <a:p>
            <a:pPr marL="171450" indent="-171450">
              <a:buFont typeface="Arial" panose="020B0604020202020204" pitchFamily="34" charset="0"/>
              <a:buChar char="•"/>
            </a:pPr>
            <a:r>
              <a:rPr lang="en-US" dirty="0"/>
              <a:t>Two prediction tracks share the same input: the CBM track (top, blue boxes) passes the image through a frozen BiomedCLIP in Stage 1, producing a 9-dimensional concept probability vector; one probability per ABCDE or 7-point-checklist concept. </a:t>
            </a:r>
          </a:p>
          <a:p>
            <a:pPr marL="171450" indent="-171450">
              <a:buFont typeface="Arial" panose="020B0604020202020204" pitchFamily="34" charset="0"/>
              <a:buChar char="•"/>
            </a:pPr>
            <a:r>
              <a:rPr lang="en-US" dirty="0"/>
              <a:t>Stage 2 is a sparse L1 logistic regression head that maps those 9 numbers to a melanoma-vs-benign decision. </a:t>
            </a:r>
          </a:p>
          <a:p>
            <a:pPr marL="171450" indent="-171450">
              <a:buFont typeface="Arial" panose="020B0604020202020204" pitchFamily="34" charset="0"/>
              <a:buChar char="•"/>
            </a:pPr>
            <a:r>
              <a:rPr lang="en-US" dirty="0"/>
              <a:t>In parallel (bottom, orange), Stage 3 is an EfficientNet-B0 and a ResNet-50 fine-tuned directly on HAM10000, with Grad-CAM for explanation. </a:t>
            </a:r>
          </a:p>
          <a:p>
            <a:pPr marL="171450" indent="-171450">
              <a:buFont typeface="Arial" panose="020B0604020202020204" pitchFamily="34" charset="0"/>
              <a:buChar char="•"/>
            </a:pPr>
            <a:r>
              <a:rPr lang="en-US" dirty="0"/>
              <a:t>Both tracks feed three evaluation stages on the right: </a:t>
            </a:r>
          </a:p>
          <a:p>
            <a:pPr marL="171450" indent="-171450">
              <a:buFont typeface="Arial" panose="020B0604020202020204" pitchFamily="34" charset="0"/>
              <a:buChar char="•"/>
            </a:pPr>
            <a:r>
              <a:rPr lang="en-US" dirty="0"/>
              <a:t>Stage 4 stratifies every metric by Fitzpatrick bucket; </a:t>
            </a:r>
          </a:p>
          <a:p>
            <a:pPr marL="171450" indent="-171450">
              <a:buFont typeface="Arial" panose="020B0604020202020204" pitchFamily="34" charset="0"/>
              <a:buChar char="•"/>
            </a:pPr>
            <a:r>
              <a:rPr lang="en-US" dirty="0"/>
              <a:t>Stage 5 simulates concept interventions replacing a single VLM concept with ground truth and measuring rescue; </a:t>
            </a:r>
          </a:p>
          <a:p>
            <a:pPr marL="171450" indent="-171450">
              <a:buFont typeface="Arial" panose="020B0604020202020204" pitchFamily="34" charset="0"/>
              <a:buChar char="•"/>
            </a:pPr>
            <a:r>
              <a:rPr lang="en-US" dirty="0"/>
              <a:t>Stage 6 is a bonus faithfulness analysis comparing concepts vs pixels on the insertion/deletion metric.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For datasets we have Four cohorts with four roles. </a:t>
            </a:r>
          </a:p>
          <a:p>
            <a:pPr marL="171450" indent="-171450">
              <a:buFont typeface="Arial" panose="020B0604020202020204" pitchFamily="34" charset="0"/>
              <a:buChar char="•"/>
            </a:pPr>
            <a:r>
              <a:rPr lang="en-US" dirty="0"/>
              <a:t>HAM10000 is the workhorse training set; that's where the EfficientNet and ResNet baselines live. </a:t>
            </a:r>
          </a:p>
          <a:p>
            <a:pPr marL="171450" indent="-171450">
              <a:buFont typeface="Arial" panose="020B0604020202020204" pitchFamily="34" charset="0"/>
              <a:buChar char="•"/>
            </a:pPr>
            <a:r>
              <a:rPr lang="en-US" dirty="0"/>
              <a:t>Derm7pt is the concept-supervised set, so that's where the CBM head is cross-validated with 5-fold stratified CV and where the per-concept AUROCs come from. DDI is the fairness gold standard with 656 images, </a:t>
            </a:r>
          </a:p>
          <a:p>
            <a:pPr marL="171450" indent="-171450">
              <a:buFont typeface="Arial" panose="020B0604020202020204" pitchFamily="34" charset="0"/>
              <a:buChar char="•"/>
            </a:pPr>
            <a:r>
              <a:rPr lang="en-US" dirty="0"/>
              <a:t>Fitzpatrick labels are assigned by expert dermatologists and Fitzpatrick17k contributes another 4,320 images to the fairness audit, pooled with DDI for a combined 4,976 cohort. </a:t>
            </a:r>
          </a:p>
          <a:p>
            <a:pPr marL="171450" indent="-171450">
              <a:buFont typeface="Arial" panose="020B0604020202020204" pitchFamily="34" charset="0"/>
              <a:buChar char="•"/>
            </a:pPr>
            <a:r>
              <a:rPr lang="en-US" dirty="0"/>
              <a:t>Pooling matters because DDI alone gave us a 100-sample dark-skin bucket and the bootstrap CIs swamped the point estimates; now we have 618 dark images, and the per-bucket numbers are stable.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Now let’s look at the three real DDI images in the top row. Their nine-dimensional concept vector is plotted below each. </a:t>
            </a:r>
          </a:p>
          <a:p>
            <a:pPr marL="171450" indent="-171450">
              <a:buFont typeface="Arial" panose="020B0604020202020204" pitchFamily="34" charset="0"/>
              <a:buChar char="•"/>
            </a:pPr>
            <a:r>
              <a:rPr lang="en-US" dirty="0"/>
              <a:t>Left: a benign lesion on light skin; the CBM sees low blue-white veil, low colour variation, low streaks; only regression fires, which the head treats as protective, and it correctly calls it benign. </a:t>
            </a:r>
          </a:p>
          <a:p>
            <a:pPr marL="171450" indent="-171450">
              <a:buFont typeface="Arial" panose="020B0604020202020204" pitchFamily="34" charset="0"/>
              <a:buChar char="•"/>
            </a:pPr>
            <a:r>
              <a:rPr lang="en-US" dirty="0"/>
              <a:t>Middle: a melanoma on light skin which is almost every diagnostic concept lights up at 0.9+ and the head calls melanoma. </a:t>
            </a:r>
          </a:p>
          <a:p>
            <a:pPr marL="171450" indent="-171450">
              <a:buFont typeface="Arial" panose="020B0604020202020204" pitchFamily="34" charset="0"/>
              <a:buChar char="•"/>
            </a:pPr>
            <a:r>
              <a:rPr lang="en-US" dirty="0"/>
              <a:t>Right: a melanoma on dark skin in which the concept vector is essentially identical to the light-skin melanoma, which is reassuring on its own; </a:t>
            </a:r>
          </a:p>
          <a:p>
            <a:pPr marL="171450" indent="-171450">
              <a:buFont typeface="Arial" panose="020B0604020202020204" pitchFamily="34" charset="0"/>
              <a:buChar char="•"/>
            </a:pPr>
            <a:r>
              <a:rPr lang="en-US" dirty="0"/>
              <a:t>the fairness story on the next slide is NOT that the model stops seeing melanoma on dark skin, it's that its operating point shifts.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Our first questions was (Q1): can an interpretable concept-driven head match a deep baseline? </a:t>
            </a:r>
          </a:p>
          <a:p>
            <a:pPr marL="171450" indent="-171450">
              <a:buFont typeface="Arial" panose="020B0604020202020204" pitchFamily="34" charset="0"/>
              <a:buChar char="•"/>
            </a:pPr>
            <a:r>
              <a:rPr lang="en-US" dirty="0"/>
              <a:t>Yes. We achieved AUROC of 0.79, plus-or-minus 0.03, on 5-fold stratified Derm7pt CV. </a:t>
            </a:r>
          </a:p>
          <a:p>
            <a:pPr marL="171450" indent="-171450">
              <a:buFont typeface="Arial" panose="020B0604020202020204" pitchFamily="34" charset="0"/>
              <a:buChar char="•"/>
            </a:pPr>
            <a:r>
              <a:rPr lang="en-US" dirty="0"/>
              <a:t>The MLP head is statistically indistinguishable with 0.79 as well. </a:t>
            </a:r>
          </a:p>
          <a:p>
            <a:pPr marL="171450" indent="-171450">
              <a:buFont typeface="Arial" panose="020B0604020202020204" pitchFamily="34" charset="0"/>
              <a:buChar char="•"/>
            </a:pPr>
            <a:r>
              <a:rPr lang="en-US" dirty="0"/>
              <a:t>A more interesting finding on the right is the concept-count ablation. </a:t>
            </a:r>
          </a:p>
          <a:p>
            <a:pPr marL="171450" indent="-171450">
              <a:buFont typeface="Arial" panose="020B0604020202020204" pitchFamily="34" charset="0"/>
              <a:buChar char="•"/>
            </a:pPr>
            <a:r>
              <a:rPr lang="en-US" dirty="0"/>
              <a:t>I ranked concepts by absolute head-weight and retrained with only the top k. </a:t>
            </a:r>
          </a:p>
          <a:p>
            <a:pPr marL="171450" indent="-171450">
              <a:buFont typeface="Arial" panose="020B0604020202020204" pitchFamily="34" charset="0"/>
              <a:buChar char="•"/>
            </a:pPr>
            <a:r>
              <a:rPr lang="en-US" dirty="0"/>
              <a:t>Performance saturates at k = 3: colour variation, blue-white veil, pigment network together reach 0.785, within 0.01 of the full nine. </a:t>
            </a:r>
          </a:p>
          <a:p>
            <a:pPr marL="171450" indent="-171450">
              <a:buFont typeface="Arial" panose="020B0604020202020204" pitchFamily="34" charset="0"/>
              <a:buChar char="•"/>
            </a:pPr>
            <a:r>
              <a:rPr lang="en-US" dirty="0"/>
              <a:t>Beyond k = 5 the curve is flat. </a:t>
            </a:r>
          </a:p>
          <a:p>
            <a:pPr marL="171450" indent="-171450">
              <a:buFont typeface="Arial" panose="020B0604020202020204" pitchFamily="34" charset="0"/>
              <a:buChar char="•"/>
            </a:pPr>
            <a:r>
              <a:rPr lang="en-US" dirty="0"/>
              <a:t>This is not just trivia; it tells us the head is effectively 3-concept, which is why fixing one concept in Q3 rescues so many errors and Collapses the interpretability-vs-accuracy trade-off commonly claimed against CBMs.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Now comes The fairness twist. </a:t>
            </a:r>
          </a:p>
          <a:p>
            <a:pPr marL="171450" indent="-171450">
              <a:buFont typeface="Arial" panose="020B0604020202020204" pitchFamily="34" charset="0"/>
              <a:buChar char="•"/>
            </a:pPr>
            <a:r>
              <a:rPr lang="en-US" dirty="0"/>
              <a:t>On the LEFT is the 'good news' panel. </a:t>
            </a:r>
          </a:p>
          <a:p>
            <a:pPr marL="171450" indent="-171450">
              <a:buFont typeface="Arial" panose="020B0604020202020204" pitchFamily="34" charset="0"/>
              <a:buChar char="•"/>
            </a:pPr>
            <a:r>
              <a:rPr lang="en-US" dirty="0"/>
              <a:t>Per-bucket AUROC is 0.67, 0.66, 0.67 across light, medium, and dark which means it is essentially flat, and all three models (CBM, EfficientNet, ResNet) look comparable. If I stopped here we'd conclude we have a fair model. </a:t>
            </a:r>
          </a:p>
          <a:p>
            <a:pPr marL="171450" indent="-171450">
              <a:buFont typeface="Arial" panose="020B0604020202020204" pitchFamily="34" charset="0"/>
              <a:buChar char="•"/>
            </a:pPr>
            <a:r>
              <a:rPr lang="en-US" dirty="0"/>
              <a:t>Now look RIGHT. Same data, two other metrics the audit also tracks. Specificity drops 13 percentage points from 0.58 on light skin to 0.45 on dark skin and expected-calibration error more than doubles, from 0.08 to 0.18. </a:t>
            </a:r>
          </a:p>
          <a:p>
            <a:pPr marL="171450" indent="-171450">
              <a:buFont typeface="Arial" panose="020B0604020202020204" pitchFamily="34" charset="0"/>
              <a:buChar char="•"/>
            </a:pPr>
            <a:r>
              <a:rPr lang="en-US" dirty="0"/>
              <a:t>The dark-skin row is highlighted in orange. </a:t>
            </a:r>
          </a:p>
          <a:p>
            <a:pPr marL="171450" indent="-171450">
              <a:buFont typeface="Arial" panose="020B0604020202020204" pitchFamily="34" charset="0"/>
              <a:buChar char="•"/>
            </a:pPr>
            <a:r>
              <a:rPr lang="en-US" dirty="0"/>
              <a:t>The equalised-odds gap confirms the pattern: CBM-LR's gap of 0.133 is actually LARGER than the deep baselines; not because the CBM is less ranked-fair, but because the sparse linear head moves its operating point across buckets. </a:t>
            </a:r>
          </a:p>
          <a:p>
            <a:pPr marL="171450" indent="-171450">
              <a:buFont typeface="Arial" panose="020B0604020202020204" pitchFamily="34" charset="0"/>
              <a:buChar char="•"/>
            </a:pPr>
            <a:r>
              <a:rPr lang="en-US" dirty="0"/>
              <a:t>Looking at the clinical translation: the head over-calls positives on darker skin rather than missing them. </a:t>
            </a:r>
          </a:p>
          <a:p>
            <a:pPr marL="171450" indent="-171450">
              <a:buFont typeface="Arial" panose="020B0604020202020204" pitchFamily="34" charset="0"/>
              <a:buChar char="•"/>
            </a:pPr>
            <a:r>
              <a:rPr lang="en-US" dirty="0"/>
              <a:t>False positives mean unnecessary biopsies and that's a real cost. </a:t>
            </a:r>
          </a:p>
          <a:p>
            <a:pPr marL="171450" indent="-171450">
              <a:buFont typeface="Arial" panose="020B0604020202020204" pitchFamily="34" charset="0"/>
              <a:buChar char="•"/>
            </a:pPr>
            <a:r>
              <a:rPr lang="en-US" dirty="0"/>
              <a:t>This is what AUROC alone hides and what the concept layer is built to localise.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next question is the concept-intervention oracle simulates what happens if a clinician corrects one of the 9 concepts on a misclassified image. </a:t>
            </a:r>
          </a:p>
          <a:p>
            <a:pPr marL="171450" indent="-171450">
              <a:buFont typeface="Arial" panose="020B0604020202020204" pitchFamily="34" charset="0"/>
              <a:buChar char="•"/>
            </a:pPr>
            <a:r>
              <a:rPr lang="en-US" dirty="0"/>
              <a:t>Out of 289 CBM misclassifications on held-out folds, 85.8% are fixed by correcting a single concept. 86.5% by correcting two. </a:t>
            </a:r>
          </a:p>
          <a:p>
            <a:pPr marL="171450" indent="-171450">
              <a:buFont typeface="Arial" panose="020B0604020202020204" pitchFamily="34" charset="0"/>
              <a:buChar char="•"/>
            </a:pPr>
            <a:r>
              <a:rPr lang="en-US" dirty="0"/>
              <a:t>The chart on the right breaks this down per concept. </a:t>
            </a:r>
          </a:p>
          <a:p>
            <a:pPr marL="171450" indent="-171450">
              <a:buFont typeface="Arial" panose="020B0604020202020204" pitchFamily="34" charset="0"/>
              <a:buChar char="•"/>
            </a:pPr>
            <a:r>
              <a:rPr lang="en-US" dirty="0"/>
              <a:t>One concept, blue-white veil, alone fixes 65.4% of errors which is two-thirds of the entire error budget. </a:t>
            </a:r>
          </a:p>
          <a:p>
            <a:pPr marL="171450" indent="-171450">
              <a:buFont typeface="Arial" panose="020B0604020202020204" pitchFamily="34" charset="0"/>
              <a:buChar char="•"/>
            </a:pPr>
            <a:r>
              <a:rPr lang="en-US" dirty="0"/>
              <a:t>Vessels fix another 56%. </a:t>
            </a:r>
          </a:p>
          <a:p>
            <a:pPr marL="171450" indent="-171450">
              <a:buFont typeface="Arial" panose="020B0604020202020204" pitchFamily="34" charset="0"/>
              <a:buChar char="•"/>
            </a:pPr>
            <a:r>
              <a:rPr lang="en-US" dirty="0"/>
              <a:t>Pigment network fixes 17%. </a:t>
            </a:r>
          </a:p>
          <a:p>
            <a:pPr marL="171450" indent="-171450">
              <a:buFont typeface="Arial" panose="020B0604020202020204" pitchFamily="34" charset="0"/>
              <a:buChar char="•"/>
            </a:pPr>
            <a:r>
              <a:rPr lang="en-US" dirty="0"/>
              <a:t>This is the ACTIONABLE part of the audit. </a:t>
            </a:r>
          </a:p>
          <a:p>
            <a:pPr marL="171450" indent="-171450">
              <a:buFont typeface="Arial" panose="020B0604020202020204" pitchFamily="34" charset="0"/>
              <a:buChar char="•"/>
            </a:pPr>
            <a:r>
              <a:rPr lang="en-US" dirty="0"/>
              <a:t>The clinical story is to collect more blue-white-veil labels on Fitzpatrick V-VI imagery, fine-tune the BiomedCLIP prompt or its text encoder on that targeted concept, and we expect to close the dominant part of the specificity and ECE gap from the previous slide without retraining the diagnosis head. That's a much smaller data-collection ask than rebuilding the whole classifier.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For this next question, I reintroduce the top-ranked features one at a time (by head-weight for CBM, by Grad-CAM importance for pixels) and measure how fast the melanoma probability recovers. </a:t>
            </a:r>
          </a:p>
          <a:p>
            <a:pPr marL="171450" indent="-171450">
              <a:buFont typeface="Arial" panose="020B0604020202020204" pitchFamily="34" charset="0"/>
              <a:buChar char="•"/>
            </a:pPr>
            <a:r>
              <a:rPr lang="en-US" dirty="0"/>
              <a:t>Higher AUC on insertion is more faithful. </a:t>
            </a:r>
          </a:p>
          <a:p>
            <a:pPr marL="171450" indent="-171450">
              <a:buFont typeface="Arial" panose="020B0604020202020204" pitchFamily="34" charset="0"/>
              <a:buChar char="•"/>
            </a:pPr>
            <a:r>
              <a:rPr lang="en-US" dirty="0"/>
              <a:t>CBM concepts score 0.33, Grad-CAM 0.20 and the concepts win by a wide margin. </a:t>
            </a:r>
          </a:p>
          <a:p>
            <a:pPr marL="171450" indent="-171450">
              <a:buFont typeface="Arial" panose="020B0604020202020204" pitchFamily="34" charset="0"/>
              <a:buChar char="•"/>
            </a:pPr>
            <a:r>
              <a:rPr lang="en-US" dirty="0"/>
              <a:t>The insertion-AUC gap of 0.13 means the top-ranked concepts recover most of the model's decision when reintroduced, whereas saliency-only heatmaps do not. </a:t>
            </a:r>
          </a:p>
          <a:p>
            <a:pPr marL="171450" indent="-171450">
              <a:buFont typeface="Arial" panose="020B0604020202020204" pitchFamily="34" charset="0"/>
              <a:buChar char="•"/>
            </a:pPr>
            <a:r>
              <a:rPr lang="en-US" dirty="0"/>
              <a:t>Deletion is a worse comparison here because Grad-CAM has lower baseline probabilities which is a known confound against calibrated methods and so I rely on insertion as the decisive metric.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Now let’s look at some of the limitations. </a:t>
            </a:r>
          </a:p>
          <a:p>
            <a:pPr marL="171450" indent="-171450">
              <a:buFont typeface="Arial" panose="020B0604020202020204" pitchFamily="34" charset="0"/>
              <a:buChar char="•"/>
            </a:pPr>
            <a:r>
              <a:rPr lang="en-US" dirty="0"/>
              <a:t>First: the VLM concepts are noisy; the two-class prompt-pair softmax is a weak classifier relative to a trained detector. </a:t>
            </a:r>
          </a:p>
          <a:p>
            <a:pPr marL="171450" indent="-171450">
              <a:buFont typeface="Arial" panose="020B0604020202020204" pitchFamily="34" charset="0"/>
              <a:buChar char="•"/>
            </a:pPr>
            <a:r>
              <a:rPr lang="en-US" dirty="0"/>
              <a:t>Second: the concept-layer audit is still DDI-only because Fitz17k ships no dermoscopic concept ground truth; adding Fitz17k strengthened the diagnosis-layer audit but not the concept heatmap. </a:t>
            </a:r>
          </a:p>
          <a:p>
            <a:pPr marL="171450" indent="-171450">
              <a:buFont typeface="Arial" panose="020B0604020202020204" pitchFamily="34" charset="0"/>
              <a:buChar char="•"/>
            </a:pPr>
            <a:r>
              <a:rPr lang="en-US" dirty="0"/>
              <a:t>Third: Fitz17k Fitzpatrick labels are self-reported plus ITA correction, not expert-annotated like DDI. </a:t>
            </a:r>
          </a:p>
          <a:p>
            <a:pPr marL="171450" indent="-171450">
              <a:buFont typeface="Arial" panose="020B0604020202020204" pitchFamily="34" charset="0"/>
              <a:buChar char="•"/>
            </a:pPr>
            <a:r>
              <a:rPr lang="en-US" dirty="0"/>
              <a:t>Fourth: pooled bootstrap CIs were not regenerated; that's a clean next step. </a:t>
            </a:r>
          </a:p>
          <a:p>
            <a:pPr marL="171450" indent="-171450">
              <a:buFont typeface="Arial" panose="020B0604020202020204" pitchFamily="34" charset="0"/>
              <a:buChar char="•"/>
            </a:pPr>
            <a:r>
              <a:rPr lang="en-US" dirty="0"/>
              <a:t>On the right, the three future directions that follow mechanically from the audit: </a:t>
            </a:r>
          </a:p>
          <a:p>
            <a:pPr marL="628650" lvl="1" indent="-171450">
              <a:buFont typeface="Arial" panose="020B0604020202020204" pitchFamily="34" charset="0"/>
              <a:buChar char="•"/>
            </a:pPr>
            <a:r>
              <a:rPr lang="en-US" dirty="0"/>
              <a:t>targeted concept retraining on blue-white veil; </a:t>
            </a:r>
          </a:p>
          <a:p>
            <a:pPr marL="628650" lvl="1" indent="-171450">
              <a:buFont typeface="Arial" panose="020B0604020202020204" pitchFamily="34" charset="0"/>
              <a:buChar char="•"/>
            </a:pPr>
            <a:r>
              <a:rPr lang="en-US" dirty="0"/>
              <a:t>per-bucket head recalibration to close the ECE gap without retraining the VLM; </a:t>
            </a:r>
          </a:p>
          <a:p>
            <a:pPr marL="628650" lvl="1" indent="-171450">
              <a:buFont typeface="Arial" panose="020B0604020202020204" pitchFamily="34" charset="0"/>
              <a:buChar char="•"/>
            </a:pPr>
            <a:r>
              <a:rPr lang="en-US" dirty="0"/>
              <a:t>and a learned linear probe on BiomedCLIP features to quantify how much of the concept-detection error is prompt-design vs representation.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Finally, the Four takeaways are:</a:t>
            </a:r>
          </a:p>
          <a:p>
            <a:pPr marL="628650" lvl="1" indent="-171450">
              <a:buFont typeface="Arial" panose="020B0604020202020204" pitchFamily="34" charset="0"/>
              <a:buChar char="•"/>
            </a:pPr>
            <a:r>
              <a:rPr lang="en-US" dirty="0"/>
              <a:t>interpretable accuracy matches the deep baseline; </a:t>
            </a:r>
          </a:p>
          <a:p>
            <a:pPr marL="628650" lvl="1" indent="-171450">
              <a:buFont typeface="Arial" panose="020B0604020202020204" pitchFamily="34" charset="0"/>
              <a:buChar char="•"/>
            </a:pPr>
            <a:r>
              <a:rPr lang="en-US" dirty="0"/>
              <a:t>AUROC parity hides the real skin-tone gap; </a:t>
            </a:r>
          </a:p>
          <a:p>
            <a:pPr marL="628650" lvl="1" indent="-171450">
              <a:buFont typeface="Arial" panose="020B0604020202020204" pitchFamily="34" charset="0"/>
              <a:buChar char="•"/>
            </a:pPr>
            <a:r>
              <a:rPr lang="en-US" dirty="0"/>
              <a:t>concept intervention localises 85% of the error budget onto one or two concepts; </a:t>
            </a:r>
          </a:p>
          <a:p>
            <a:pPr marL="628650" lvl="1" indent="-171450">
              <a:buFont typeface="Arial" panose="020B0604020202020204" pitchFamily="34" charset="0"/>
              <a:buChar char="•"/>
            </a:pPr>
            <a:r>
              <a:rPr lang="en-US" dirty="0"/>
              <a:t>and the concept layer is more faithful than Grad-CAM on insertion. </a:t>
            </a:r>
          </a:p>
          <a:p>
            <a:pPr marL="171450" lvl="0" indent="-171450">
              <a:buFont typeface="Arial" panose="020B0604020202020204" pitchFamily="34" charset="0"/>
              <a:buChar char="•"/>
            </a:pPr>
            <a:r>
              <a:rPr lang="en-US" dirty="0"/>
              <a:t>Thank you.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deepesh002/vlm-cbm-derm-fairnes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BF5700"/>
          </a:solidFill>
          <a:ln/>
        </p:spPr>
        <p:txBody>
          <a:bodyPr/>
          <a:lstStyle/>
          <a:p>
            <a:endParaRPr lang="en-US"/>
          </a:p>
        </p:txBody>
      </p:sp>
      <p:sp>
        <p:nvSpPr>
          <p:cNvPr id="3" name="Shape 1"/>
          <p:cNvSpPr/>
          <p:nvPr/>
        </p:nvSpPr>
        <p:spPr>
          <a:xfrm>
            <a:off x="9509760" y="0"/>
            <a:ext cx="2651760" cy="6858000"/>
          </a:xfrm>
          <a:prstGeom prst="rect">
            <a:avLst/>
          </a:prstGeom>
          <a:solidFill>
            <a:srgbClr val="F8F3E6"/>
          </a:solidFill>
          <a:ln/>
        </p:spPr>
        <p:txBody>
          <a:bodyPr/>
          <a:lstStyle/>
          <a:p>
            <a:endParaRPr lang="en-US"/>
          </a:p>
        </p:txBody>
      </p:sp>
      <p:sp>
        <p:nvSpPr>
          <p:cNvPr id="4" name="Text 2"/>
          <p:cNvSpPr/>
          <p:nvPr/>
        </p:nvSpPr>
        <p:spPr>
          <a:xfrm>
            <a:off x="731520" y="1005840"/>
            <a:ext cx="10058400" cy="365760"/>
          </a:xfrm>
          <a:prstGeom prst="rect">
            <a:avLst/>
          </a:prstGeom>
          <a:noFill/>
          <a:ln/>
        </p:spPr>
        <p:txBody>
          <a:bodyPr wrap="square" lIns="0" tIns="0" rIns="0" bIns="0" rtlCol="0" anchor="ctr"/>
          <a:lstStyle/>
          <a:p>
            <a:pPr marL="0" indent="0">
              <a:buNone/>
            </a:pPr>
            <a:r>
              <a:rPr lang="en-US" sz="1300" b="1" kern="0" spc="600" dirty="0">
                <a:solidFill>
                  <a:srgbClr val="BF5700"/>
                </a:solidFill>
                <a:latin typeface="Calibri" pitchFamily="34" charset="0"/>
                <a:ea typeface="Calibri" pitchFamily="34" charset="-122"/>
                <a:cs typeface="Calibri" pitchFamily="34" charset="-120"/>
              </a:rPr>
              <a:t>AI IN HEALTHCARE   ·   HIGH-RISK PROJECT   ·   SP 2026</a:t>
            </a:r>
            <a:endParaRPr lang="en-US" sz="1300" dirty="0"/>
          </a:p>
        </p:txBody>
      </p:sp>
      <p:sp>
        <p:nvSpPr>
          <p:cNvPr id="5" name="Text 3"/>
          <p:cNvSpPr/>
          <p:nvPr/>
        </p:nvSpPr>
        <p:spPr>
          <a:xfrm>
            <a:off x="731520" y="1554480"/>
            <a:ext cx="9144000" cy="914400"/>
          </a:xfrm>
          <a:prstGeom prst="rect">
            <a:avLst/>
          </a:prstGeom>
          <a:noFill/>
          <a:ln/>
        </p:spPr>
        <p:txBody>
          <a:bodyPr wrap="square" lIns="0" tIns="0" rIns="0" bIns="0" rtlCol="0" anchor="t"/>
          <a:lstStyle/>
          <a:p>
            <a:pPr marL="0" indent="0">
              <a:buNone/>
            </a:pPr>
            <a:r>
              <a:rPr lang="en-US" sz="4400" b="1" dirty="0">
                <a:solidFill>
                  <a:srgbClr val="333F48"/>
                </a:solidFill>
                <a:latin typeface="Georgia" pitchFamily="34" charset="0"/>
                <a:ea typeface="Georgia" pitchFamily="34" charset="-122"/>
                <a:cs typeface="Georgia" pitchFamily="34" charset="-120"/>
              </a:rPr>
              <a:t>VLM-Powered Concept</a:t>
            </a:r>
            <a:endParaRPr lang="en-US" sz="4400" dirty="0"/>
          </a:p>
        </p:txBody>
      </p:sp>
      <p:sp>
        <p:nvSpPr>
          <p:cNvPr id="6" name="Text 4"/>
          <p:cNvSpPr/>
          <p:nvPr/>
        </p:nvSpPr>
        <p:spPr>
          <a:xfrm>
            <a:off x="731520" y="2423160"/>
            <a:ext cx="9144000" cy="914400"/>
          </a:xfrm>
          <a:prstGeom prst="rect">
            <a:avLst/>
          </a:prstGeom>
          <a:noFill/>
          <a:ln/>
        </p:spPr>
        <p:txBody>
          <a:bodyPr wrap="square" lIns="0" tIns="0" rIns="0" bIns="0" rtlCol="0" anchor="t"/>
          <a:lstStyle/>
          <a:p>
            <a:pPr marL="0" indent="0">
              <a:buNone/>
            </a:pPr>
            <a:r>
              <a:rPr lang="en-US" sz="4400" b="1" dirty="0">
                <a:solidFill>
                  <a:srgbClr val="333F48"/>
                </a:solidFill>
                <a:latin typeface="Georgia" pitchFamily="34" charset="0"/>
                <a:ea typeface="Georgia" pitchFamily="34" charset="-122"/>
                <a:cs typeface="Georgia" pitchFamily="34" charset="-120"/>
              </a:rPr>
              <a:t>Bottleneck Models for</a:t>
            </a:r>
            <a:endParaRPr lang="en-US" sz="4400" dirty="0"/>
          </a:p>
        </p:txBody>
      </p:sp>
      <p:sp>
        <p:nvSpPr>
          <p:cNvPr id="7" name="Text 5"/>
          <p:cNvSpPr/>
          <p:nvPr/>
        </p:nvSpPr>
        <p:spPr>
          <a:xfrm>
            <a:off x="731520" y="3291840"/>
            <a:ext cx="9144000" cy="914400"/>
          </a:xfrm>
          <a:prstGeom prst="rect">
            <a:avLst/>
          </a:prstGeom>
          <a:noFill/>
          <a:ln/>
        </p:spPr>
        <p:txBody>
          <a:bodyPr wrap="square" lIns="0" tIns="0" rIns="0" bIns="0" rtlCol="0" anchor="t"/>
          <a:lstStyle/>
          <a:p>
            <a:pPr marL="0" indent="0">
              <a:buNone/>
            </a:pPr>
            <a:r>
              <a:rPr lang="en-US" sz="4400" b="1" dirty="0">
                <a:solidFill>
                  <a:srgbClr val="333F48"/>
                </a:solidFill>
                <a:latin typeface="Georgia" pitchFamily="34" charset="0"/>
                <a:ea typeface="Georgia" pitchFamily="34" charset="-122"/>
                <a:cs typeface="Georgia" pitchFamily="34" charset="-120"/>
              </a:rPr>
              <a:t>Dermatology</a:t>
            </a:r>
            <a:endParaRPr lang="en-US" sz="4400" dirty="0"/>
          </a:p>
        </p:txBody>
      </p:sp>
      <p:sp>
        <p:nvSpPr>
          <p:cNvPr id="8" name="Text 6"/>
          <p:cNvSpPr/>
          <p:nvPr/>
        </p:nvSpPr>
        <p:spPr>
          <a:xfrm>
            <a:off x="731520" y="4160520"/>
            <a:ext cx="9144000" cy="548640"/>
          </a:xfrm>
          <a:prstGeom prst="rect">
            <a:avLst/>
          </a:prstGeom>
          <a:noFill/>
          <a:ln/>
        </p:spPr>
        <p:txBody>
          <a:bodyPr wrap="square" lIns="0" tIns="0" rIns="0" bIns="0" rtlCol="0" anchor="t"/>
          <a:lstStyle/>
          <a:p>
            <a:pPr marL="0" indent="0">
              <a:buNone/>
            </a:pPr>
            <a:r>
              <a:rPr lang="en-US" sz="2200" i="1" dirty="0">
                <a:solidFill>
                  <a:srgbClr val="BF5700"/>
                </a:solidFill>
                <a:latin typeface="Georgia" pitchFamily="34" charset="0"/>
                <a:ea typeface="Georgia" pitchFamily="34" charset="-122"/>
                <a:cs typeface="Georgia" pitchFamily="34" charset="-120"/>
              </a:rPr>
              <a:t>with a Fitzpatrick Skin-Tone Fairness Audit</a:t>
            </a:r>
            <a:endParaRPr lang="en-US" sz="2200" dirty="0"/>
          </a:p>
        </p:txBody>
      </p:sp>
      <p:sp>
        <p:nvSpPr>
          <p:cNvPr id="9" name="Text 7"/>
          <p:cNvSpPr/>
          <p:nvPr/>
        </p:nvSpPr>
        <p:spPr>
          <a:xfrm>
            <a:off x="9692640" y="2377440"/>
            <a:ext cx="2286000" cy="2286000"/>
          </a:xfrm>
          <a:prstGeom prst="rect">
            <a:avLst/>
          </a:prstGeom>
          <a:noFill/>
          <a:ln/>
        </p:spPr>
        <p:txBody>
          <a:bodyPr wrap="square" lIns="0" tIns="0" rIns="0" bIns="0" rtlCol="0" anchor="t"/>
          <a:lstStyle/>
          <a:p>
            <a:pPr marL="0" indent="0">
              <a:buNone/>
            </a:pPr>
            <a:r>
              <a:rPr lang="en-US" sz="1400" dirty="0">
                <a:solidFill>
                  <a:srgbClr val="333F48"/>
                </a:solidFill>
                <a:latin typeface="Calibri" pitchFamily="34" charset="0"/>
                <a:ea typeface="Calibri" pitchFamily="34" charset="-122"/>
                <a:cs typeface="Calibri" pitchFamily="34" charset="-120"/>
              </a:rPr>
              <a:t>A diagnosis that explains </a:t>
            </a:r>
            <a:r>
              <a:rPr lang="en-US" sz="1400" b="1" i="1" dirty="0">
                <a:solidFill>
                  <a:srgbClr val="BF5700"/>
                </a:solidFill>
                <a:latin typeface="Calibri" pitchFamily="34" charset="0"/>
                <a:ea typeface="Calibri" pitchFamily="34" charset="-122"/>
                <a:cs typeface="Calibri" pitchFamily="34" charset="-120"/>
              </a:rPr>
              <a:t>which clinical concept</a:t>
            </a:r>
            <a:r>
              <a:rPr lang="en-US" sz="1400" dirty="0">
                <a:solidFill>
                  <a:srgbClr val="333F48"/>
                </a:solidFill>
                <a:latin typeface="Calibri" pitchFamily="34" charset="0"/>
                <a:ea typeface="Calibri" pitchFamily="34" charset="-122"/>
                <a:cs typeface="Calibri" pitchFamily="34" charset="-120"/>
              </a:rPr>
              <a:t> drove it</a:t>
            </a:r>
            <a:r>
              <a:rPr lang="en-US" sz="1400" dirty="0"/>
              <a:t> </a:t>
            </a:r>
            <a:r>
              <a:rPr lang="en-US" sz="1400" i="1" dirty="0">
                <a:solidFill>
                  <a:srgbClr val="333F48"/>
                </a:solidFill>
                <a:latin typeface="Calibri" pitchFamily="34" charset="0"/>
                <a:ea typeface="Calibri" pitchFamily="34" charset="-122"/>
                <a:cs typeface="Calibri" pitchFamily="34" charset="-120"/>
              </a:rPr>
              <a:t>and where the disparity on darker skin really sits.</a:t>
            </a:r>
            <a:endParaRPr lang="en-US" sz="1400" dirty="0"/>
          </a:p>
        </p:txBody>
      </p:sp>
      <p:sp>
        <p:nvSpPr>
          <p:cNvPr id="10" name="Shape 8"/>
          <p:cNvSpPr/>
          <p:nvPr/>
        </p:nvSpPr>
        <p:spPr>
          <a:xfrm>
            <a:off x="731520" y="4983480"/>
            <a:ext cx="6035040" cy="0"/>
          </a:xfrm>
          <a:prstGeom prst="line">
            <a:avLst/>
          </a:prstGeom>
          <a:noFill/>
          <a:ln w="25400">
            <a:solidFill>
              <a:srgbClr val="BF5700"/>
            </a:solidFill>
            <a:prstDash val="solid"/>
          </a:ln>
        </p:spPr>
        <p:txBody>
          <a:bodyPr/>
          <a:lstStyle/>
          <a:p>
            <a:endParaRPr lang="en-US"/>
          </a:p>
        </p:txBody>
      </p:sp>
      <p:sp>
        <p:nvSpPr>
          <p:cNvPr id="11" name="Text 9"/>
          <p:cNvSpPr/>
          <p:nvPr/>
        </p:nvSpPr>
        <p:spPr>
          <a:xfrm>
            <a:off x="731520" y="5120640"/>
            <a:ext cx="7315200" cy="365760"/>
          </a:xfrm>
          <a:prstGeom prst="rect">
            <a:avLst/>
          </a:prstGeom>
          <a:noFill/>
          <a:ln/>
        </p:spPr>
        <p:txBody>
          <a:bodyPr wrap="square" lIns="0" tIns="0" rIns="0" bIns="0" rtlCol="0" anchor="ctr"/>
          <a:lstStyle/>
          <a:p>
            <a:pPr marL="0" indent="0">
              <a:buNone/>
            </a:pPr>
            <a:r>
              <a:rPr lang="en-US" sz="1800" b="1" dirty="0">
                <a:solidFill>
                  <a:srgbClr val="333F48"/>
                </a:solidFill>
                <a:latin typeface="Georgia" pitchFamily="34" charset="0"/>
                <a:ea typeface="Georgia" pitchFamily="34" charset="-122"/>
                <a:cs typeface="Georgia" pitchFamily="34" charset="-120"/>
              </a:rPr>
              <a:t>Deepesh Khanna</a:t>
            </a:r>
            <a:endParaRPr lang="en-US" sz="1800" dirty="0"/>
          </a:p>
        </p:txBody>
      </p:sp>
      <p:sp>
        <p:nvSpPr>
          <p:cNvPr id="12" name="Text 10"/>
          <p:cNvSpPr/>
          <p:nvPr/>
        </p:nvSpPr>
        <p:spPr>
          <a:xfrm>
            <a:off x="731520" y="5468112"/>
            <a:ext cx="9144000" cy="256032"/>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University of Texas at Austin</a:t>
            </a:r>
            <a:endParaRPr lang="en-US" sz="1200" dirty="0"/>
          </a:p>
        </p:txBody>
      </p:sp>
      <p:sp>
        <p:nvSpPr>
          <p:cNvPr id="13" name="Text 11"/>
          <p:cNvSpPr/>
          <p:nvPr/>
        </p:nvSpPr>
        <p:spPr>
          <a:xfrm>
            <a:off x="731520" y="5724144"/>
            <a:ext cx="9144000" cy="256032"/>
          </a:xfrm>
          <a:prstGeom prst="rect">
            <a:avLst/>
          </a:prstGeom>
          <a:noFill/>
          <a:ln/>
        </p:spPr>
        <p:txBody>
          <a:bodyPr wrap="square" lIns="0" tIns="0" rIns="0" bIns="0" rtlCol="0" anchor="ctr"/>
          <a:lstStyle/>
          <a:p>
            <a:pPr marL="0" indent="0">
              <a:buNone/>
            </a:pPr>
            <a:r>
              <a:rPr lang="en-US" sz="1100" i="1" dirty="0">
                <a:solidFill>
                  <a:srgbClr val="6C7A89"/>
                </a:solidFill>
                <a:latin typeface="Calibri" pitchFamily="34" charset="0"/>
                <a:ea typeface="Calibri" pitchFamily="34" charset="-122"/>
                <a:cs typeface="Calibri" pitchFamily="34" charset="-120"/>
              </a:rPr>
              <a:t>UID : dk32786</a:t>
            </a:r>
            <a:endParaRPr lang="en-US" sz="1100" dirty="0"/>
          </a:p>
        </p:txBody>
      </p:sp>
      <p:sp>
        <p:nvSpPr>
          <p:cNvPr id="14" name="Text 12"/>
          <p:cNvSpPr/>
          <p:nvPr/>
        </p:nvSpPr>
        <p:spPr>
          <a:xfrm>
            <a:off x="731520" y="6016752"/>
            <a:ext cx="9144000" cy="256032"/>
          </a:xfrm>
          <a:prstGeom prst="rect">
            <a:avLst/>
          </a:prstGeom>
          <a:noFill/>
          <a:ln/>
        </p:spPr>
        <p:txBody>
          <a:bodyPr wrap="square" lIns="0" tIns="0" rIns="0" bIns="0" rtlCol="0" anchor="ctr"/>
          <a:lstStyle/>
          <a:p>
            <a:pPr marL="0" indent="0">
              <a:buNone/>
            </a:pPr>
            <a:r>
              <a:rPr lang="en-US" sz="1050" i="1" dirty="0">
                <a:solidFill>
                  <a:srgbClr val="BF5700"/>
                </a:solidFill>
                <a:latin typeface="Consolas" pitchFamily="34" charset="0"/>
                <a:ea typeface="Consolas" pitchFamily="34" charset="-122"/>
                <a:cs typeface="Consolas" pitchFamily="34" charset="-120"/>
                <a:hlinkClick r:id="rId3"/>
              </a:rPr>
              <a:t>github.com/deepesh002/vlm-cbm-derm-fairness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600" dirty="0">
                <a:solidFill>
                  <a:srgbClr val="BF5700"/>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548640" y="713232"/>
            <a:ext cx="11155680" cy="594360"/>
          </a:xfrm>
          <a:prstGeom prst="rect">
            <a:avLst/>
          </a:prstGeom>
          <a:noFill/>
          <a:ln/>
        </p:spPr>
        <p:txBody>
          <a:bodyPr wrap="square" lIns="0" tIns="0" rIns="0" bIns="0" rtlCol="0" anchor="ctr"/>
          <a:lstStyle/>
          <a:p>
            <a:pPr marL="0" indent="0">
              <a:buNone/>
            </a:pPr>
            <a:r>
              <a:rPr lang="en-US" sz="2600" b="1" dirty="0">
                <a:solidFill>
                  <a:srgbClr val="333F48"/>
                </a:solidFill>
                <a:latin typeface="Georgia" pitchFamily="34" charset="0"/>
                <a:ea typeface="Georgia" pitchFamily="34" charset="-122"/>
                <a:cs typeface="Georgia" pitchFamily="34" charset="-120"/>
              </a:rPr>
              <a:t>Why this project and what we set out to answer</a:t>
            </a:r>
            <a:endParaRPr lang="en-US" sz="2600" dirty="0"/>
          </a:p>
        </p:txBody>
      </p:sp>
      <p:sp>
        <p:nvSpPr>
          <p:cNvPr id="4" name="Shape 2"/>
          <p:cNvSpPr/>
          <p:nvPr/>
        </p:nvSpPr>
        <p:spPr>
          <a:xfrm>
            <a:off x="548640" y="6473952"/>
            <a:ext cx="11064240" cy="0"/>
          </a:xfrm>
          <a:prstGeom prst="line">
            <a:avLst/>
          </a:prstGeom>
          <a:noFill/>
          <a:ln w="9525">
            <a:solidFill>
              <a:srgbClr val="D9DEE3"/>
            </a:solidFill>
            <a:prstDash val="solid"/>
          </a:ln>
        </p:spPr>
        <p:txBody>
          <a:bodyPr/>
          <a:lstStyle/>
          <a:p>
            <a:endParaRPr lang="en-US"/>
          </a:p>
        </p:txBody>
      </p:sp>
      <p:sp>
        <p:nvSpPr>
          <p:cNvPr id="5" name="Text 3"/>
          <p:cNvSpPr/>
          <p:nvPr/>
        </p:nvSpPr>
        <p:spPr>
          <a:xfrm>
            <a:off x="548640" y="6528816"/>
            <a:ext cx="7315200" cy="237744"/>
          </a:xfrm>
          <a:prstGeom prst="rect">
            <a:avLst/>
          </a:prstGeom>
          <a:noFill/>
          <a:ln/>
        </p:spPr>
        <p:txBody>
          <a:bodyPr wrap="square" lIns="0" tIns="0" rIns="0" bIns="0" rtlCol="0" anchor="ctr"/>
          <a:lstStyle/>
          <a:p>
            <a:pPr marL="0" indent="0">
              <a:buNone/>
            </a:pPr>
            <a:r>
              <a:rPr lang="en-US" sz="900" i="1" dirty="0">
                <a:solidFill>
                  <a:srgbClr val="6C7A89"/>
                </a:solidFill>
                <a:latin typeface="Calibri" pitchFamily="34" charset="0"/>
                <a:ea typeface="Calibri" pitchFamily="34" charset="-122"/>
                <a:cs typeface="Calibri" pitchFamily="34" charset="-120"/>
              </a:rPr>
              <a:t>VLM-CBM Dermatology  ·  Fitzpatrick Fairness Audit</a:t>
            </a:r>
            <a:endParaRPr lang="en-US" sz="900" dirty="0"/>
          </a:p>
        </p:txBody>
      </p:sp>
      <p:sp>
        <p:nvSpPr>
          <p:cNvPr id="6" name="Text 4"/>
          <p:cNvSpPr/>
          <p:nvPr/>
        </p:nvSpPr>
        <p:spPr>
          <a:xfrm>
            <a:off x="7863840" y="6528816"/>
            <a:ext cx="3200400" cy="237744"/>
          </a:xfrm>
          <a:prstGeom prst="rect">
            <a:avLst/>
          </a:prstGeom>
          <a:noFill/>
          <a:ln/>
        </p:spPr>
        <p:txBody>
          <a:bodyPr wrap="square" lIns="0" tIns="0" rIns="0" bIns="0" rtlCol="0" anchor="ctr"/>
          <a:lstStyle/>
          <a:p>
            <a:pPr marL="0" indent="0" algn="r">
              <a:buNone/>
            </a:pPr>
            <a:r>
              <a:rPr lang="en-US" sz="900" i="1" dirty="0">
                <a:solidFill>
                  <a:srgbClr val="6C7A89"/>
                </a:solidFill>
                <a:latin typeface="Calibri" pitchFamily="34" charset="0"/>
                <a:ea typeface="Calibri" pitchFamily="34" charset="-122"/>
                <a:cs typeface="Calibri" pitchFamily="34" charset="-120"/>
              </a:rPr>
              <a:t>Deepesh Khanna  ·  UT Austin</a:t>
            </a:r>
            <a:endParaRPr lang="en-US" sz="900" dirty="0"/>
          </a:p>
        </p:txBody>
      </p:sp>
      <p:sp>
        <p:nvSpPr>
          <p:cNvPr id="7" name="Text 5"/>
          <p:cNvSpPr/>
          <p:nvPr/>
        </p:nvSpPr>
        <p:spPr>
          <a:xfrm>
            <a:off x="11430000" y="6528816"/>
            <a:ext cx="274320" cy="237744"/>
          </a:xfrm>
          <a:prstGeom prst="rect">
            <a:avLst/>
          </a:prstGeom>
          <a:noFill/>
          <a:ln/>
        </p:spPr>
        <p:txBody>
          <a:bodyPr wrap="square" lIns="0" tIns="0" rIns="0" bIns="0" rtlCol="0" anchor="ctr"/>
          <a:lstStyle/>
          <a:p>
            <a:pPr marL="0" indent="0" algn="r">
              <a:buNone/>
            </a:pPr>
            <a:r>
              <a:rPr lang="en-US" sz="900" b="1" dirty="0">
                <a:solidFill>
                  <a:srgbClr val="BF5700"/>
                </a:solidFill>
                <a:latin typeface="Calibri" pitchFamily="34" charset="0"/>
                <a:ea typeface="Calibri" pitchFamily="34" charset="-122"/>
                <a:cs typeface="Calibri" pitchFamily="34" charset="-120"/>
              </a:rPr>
              <a:t>2</a:t>
            </a:r>
            <a:endParaRPr lang="en-US" sz="900" dirty="0"/>
          </a:p>
        </p:txBody>
      </p:sp>
      <p:sp>
        <p:nvSpPr>
          <p:cNvPr id="8" name="Shape 6"/>
          <p:cNvSpPr/>
          <p:nvPr/>
        </p:nvSpPr>
        <p:spPr>
          <a:xfrm>
            <a:off x="548640" y="1508760"/>
            <a:ext cx="5394960" cy="4754880"/>
          </a:xfrm>
          <a:prstGeom prst="rect">
            <a:avLst/>
          </a:prstGeom>
          <a:solidFill>
            <a:srgbClr val="F8F3E6"/>
          </a:solidFill>
          <a:ln/>
        </p:spPr>
        <p:txBody>
          <a:bodyPr/>
          <a:lstStyle/>
          <a:p>
            <a:endParaRPr lang="en-US"/>
          </a:p>
        </p:txBody>
      </p:sp>
      <p:sp>
        <p:nvSpPr>
          <p:cNvPr id="9" name="Shape 7"/>
          <p:cNvSpPr/>
          <p:nvPr/>
        </p:nvSpPr>
        <p:spPr>
          <a:xfrm>
            <a:off x="548640" y="1508760"/>
            <a:ext cx="73152" cy="4754880"/>
          </a:xfrm>
          <a:prstGeom prst="rect">
            <a:avLst/>
          </a:prstGeom>
          <a:solidFill>
            <a:srgbClr val="BF5700"/>
          </a:solidFill>
          <a:ln/>
        </p:spPr>
        <p:txBody>
          <a:bodyPr/>
          <a:lstStyle/>
          <a:p>
            <a:endParaRPr lang="en-US"/>
          </a:p>
        </p:txBody>
      </p:sp>
      <p:sp>
        <p:nvSpPr>
          <p:cNvPr id="10" name="Text 8"/>
          <p:cNvSpPr/>
          <p:nvPr/>
        </p:nvSpPr>
        <p:spPr>
          <a:xfrm>
            <a:off x="822960" y="1600200"/>
            <a:ext cx="5029200" cy="457200"/>
          </a:xfrm>
          <a:prstGeom prst="rect">
            <a:avLst/>
          </a:prstGeom>
          <a:noFill/>
          <a:ln/>
        </p:spPr>
        <p:txBody>
          <a:bodyPr wrap="square" lIns="0" tIns="0" rIns="0" bIns="0" rtlCol="0" anchor="ctr"/>
          <a:lstStyle/>
          <a:p>
            <a:pPr marL="0" indent="0">
              <a:buNone/>
            </a:pPr>
            <a:r>
              <a:rPr lang="en-US" sz="2000" b="1" dirty="0">
                <a:solidFill>
                  <a:srgbClr val="333F48"/>
                </a:solidFill>
                <a:latin typeface="Georgia" pitchFamily="34" charset="0"/>
                <a:ea typeface="Georgia" pitchFamily="34" charset="-122"/>
                <a:cs typeface="Georgia" pitchFamily="34" charset="-120"/>
              </a:rPr>
              <a:t>The problem</a:t>
            </a:r>
            <a:endParaRPr lang="en-US" sz="2000" dirty="0"/>
          </a:p>
        </p:txBody>
      </p:sp>
      <p:sp>
        <p:nvSpPr>
          <p:cNvPr id="11" name="Text 9"/>
          <p:cNvSpPr/>
          <p:nvPr/>
        </p:nvSpPr>
        <p:spPr>
          <a:xfrm>
            <a:off x="868680" y="2103120"/>
            <a:ext cx="4937760" cy="4023360"/>
          </a:xfrm>
          <a:prstGeom prst="rect">
            <a:avLst/>
          </a:prstGeom>
          <a:noFill/>
          <a:ln/>
        </p:spPr>
        <p:txBody>
          <a:bodyPr wrap="square" lIns="0" tIns="0" rIns="0" bIns="0" rtlCol="0" anchor="t"/>
          <a:lstStyle/>
          <a:p>
            <a:pPr marL="0" indent="0">
              <a:spcAft>
                <a:spcPts val="800"/>
              </a:spcAft>
              <a:buNone/>
            </a:pPr>
            <a:r>
              <a:rPr lang="en-US" sz="1400" dirty="0">
                <a:solidFill>
                  <a:srgbClr val="1A1A1A"/>
                </a:solidFill>
              </a:rPr>
              <a:t>Skin-cancer classifiers underperform on darker skin </a:t>
            </a:r>
            <a:r>
              <a:rPr lang="en-US" sz="1250" i="1" dirty="0">
                <a:solidFill>
                  <a:srgbClr val="6C7A89"/>
                </a:solidFill>
              </a:rPr>
              <a:t>(Daneshjou et al., 2022)</a:t>
            </a:r>
            <a:endParaRPr lang="en-US" sz="1400" dirty="0"/>
          </a:p>
          <a:p>
            <a:pPr marL="0" indent="0">
              <a:spcAft>
                <a:spcPts val="800"/>
              </a:spcAft>
              <a:buNone/>
            </a:pPr>
            <a:r>
              <a:rPr lang="en-US" sz="600" dirty="0">
                <a:solidFill>
                  <a:srgbClr val="000000"/>
                </a:solidFill>
              </a:rPr>
              <a:t> </a:t>
            </a:r>
            <a:endParaRPr lang="en-US" sz="1400" dirty="0"/>
          </a:p>
          <a:p>
            <a:pPr marL="0" indent="0">
              <a:spcAft>
                <a:spcPts val="800"/>
              </a:spcAft>
              <a:buNone/>
            </a:pPr>
            <a:r>
              <a:rPr lang="en-US" sz="1400" dirty="0">
                <a:solidFill>
                  <a:srgbClr val="1A1A1A"/>
                </a:solidFill>
              </a:rPr>
              <a:t>Grad-CAM shows </a:t>
            </a:r>
            <a:r>
              <a:rPr lang="en-US" sz="1400" b="1" i="1" dirty="0">
                <a:solidFill>
                  <a:srgbClr val="BF5700"/>
                </a:solidFill>
              </a:rPr>
              <a:t>where</a:t>
            </a:r>
            <a:r>
              <a:rPr lang="en-US" sz="1400" dirty="0">
                <a:solidFill>
                  <a:srgbClr val="1A1A1A"/>
                </a:solidFill>
              </a:rPr>
              <a:t> the model looked, not </a:t>
            </a:r>
            <a:r>
              <a:rPr lang="en-US" sz="1400" b="1" i="1" dirty="0">
                <a:solidFill>
                  <a:srgbClr val="BF5700"/>
                </a:solidFill>
              </a:rPr>
              <a:t>what</a:t>
            </a:r>
            <a:r>
              <a:rPr lang="en-US" sz="1400" dirty="0">
                <a:solidFill>
                  <a:srgbClr val="1A1A1A"/>
                </a:solidFill>
              </a:rPr>
              <a:t> it understood.</a:t>
            </a:r>
            <a:endParaRPr lang="en-US" sz="1400" dirty="0"/>
          </a:p>
          <a:p>
            <a:pPr marL="0" indent="0">
              <a:spcAft>
                <a:spcPts val="800"/>
              </a:spcAft>
              <a:buNone/>
            </a:pPr>
            <a:r>
              <a:rPr lang="en-US" sz="600" dirty="0">
                <a:solidFill>
                  <a:srgbClr val="000000"/>
                </a:solidFill>
              </a:rPr>
              <a:t> </a:t>
            </a:r>
            <a:endParaRPr lang="en-US" sz="1400" dirty="0"/>
          </a:p>
          <a:p>
            <a:pPr marL="0" indent="0">
              <a:spcAft>
                <a:spcPts val="800"/>
              </a:spcAft>
              <a:buNone/>
            </a:pPr>
            <a:r>
              <a:rPr lang="en-US" sz="1400" dirty="0">
                <a:solidFill>
                  <a:srgbClr val="1A1A1A"/>
                </a:solidFill>
              </a:rPr>
              <a:t>Fairness audits stop at accuracy and there is no handle on </a:t>
            </a:r>
            <a:r>
              <a:rPr lang="en-US" sz="1400" b="1" dirty="0">
                <a:solidFill>
                  <a:srgbClr val="BF5700"/>
                </a:solidFill>
              </a:rPr>
              <a:t>which clinical feature</a:t>
            </a:r>
            <a:r>
              <a:rPr lang="en-US" sz="1400" dirty="0">
                <a:solidFill>
                  <a:srgbClr val="1A1A1A"/>
                </a:solidFill>
              </a:rPr>
              <a:t> drives the gap.</a:t>
            </a:r>
            <a:endParaRPr lang="en-US" sz="1400" dirty="0"/>
          </a:p>
          <a:p>
            <a:pPr marL="0" indent="0">
              <a:spcAft>
                <a:spcPts val="800"/>
              </a:spcAft>
              <a:buNone/>
            </a:pPr>
            <a:r>
              <a:rPr lang="en-US" sz="600" dirty="0">
                <a:solidFill>
                  <a:srgbClr val="000000"/>
                </a:solidFill>
              </a:rPr>
              <a:t> </a:t>
            </a:r>
            <a:endParaRPr lang="en-US" sz="1400" dirty="0"/>
          </a:p>
          <a:p>
            <a:pPr marL="0" indent="0">
              <a:spcAft>
                <a:spcPts val="800"/>
              </a:spcAft>
              <a:buNone/>
            </a:pPr>
            <a:r>
              <a:rPr lang="en-US" sz="1400" dirty="0">
                <a:solidFill>
                  <a:srgbClr val="1A1A1A"/>
                </a:solidFill>
              </a:rPr>
              <a:t>Concept Bottleneck Models route every prediction through a handful of auditable concepts but have never been evaluated for skin-tone fairness.</a:t>
            </a:r>
            <a:endParaRPr lang="en-US" sz="1400" dirty="0"/>
          </a:p>
        </p:txBody>
      </p:sp>
      <p:sp>
        <p:nvSpPr>
          <p:cNvPr id="12" name="Text 10"/>
          <p:cNvSpPr/>
          <p:nvPr/>
        </p:nvSpPr>
        <p:spPr>
          <a:xfrm>
            <a:off x="6583680" y="1600200"/>
            <a:ext cx="5303520" cy="457200"/>
          </a:xfrm>
          <a:prstGeom prst="rect">
            <a:avLst/>
          </a:prstGeom>
          <a:noFill/>
          <a:ln/>
        </p:spPr>
        <p:txBody>
          <a:bodyPr wrap="square" lIns="0" tIns="0" rIns="0" bIns="0" rtlCol="0" anchor="ctr"/>
          <a:lstStyle/>
          <a:p>
            <a:pPr marL="0" indent="0">
              <a:buNone/>
            </a:pPr>
            <a:r>
              <a:rPr lang="en-US" sz="2000" b="1" dirty="0">
                <a:solidFill>
                  <a:srgbClr val="333F48"/>
                </a:solidFill>
                <a:latin typeface="Georgia" pitchFamily="34" charset="0"/>
                <a:ea typeface="Georgia" pitchFamily="34" charset="-122"/>
                <a:cs typeface="Georgia" pitchFamily="34" charset="-120"/>
              </a:rPr>
              <a:t>Research questions</a:t>
            </a:r>
            <a:endParaRPr lang="en-US" sz="2000" dirty="0"/>
          </a:p>
        </p:txBody>
      </p:sp>
      <p:sp>
        <p:nvSpPr>
          <p:cNvPr id="13" name="Shape 11"/>
          <p:cNvSpPr/>
          <p:nvPr/>
        </p:nvSpPr>
        <p:spPr>
          <a:xfrm>
            <a:off x="6583680" y="2148840"/>
            <a:ext cx="5303520" cy="0"/>
          </a:xfrm>
          <a:prstGeom prst="line">
            <a:avLst/>
          </a:prstGeom>
          <a:noFill/>
          <a:ln w="6350">
            <a:solidFill>
              <a:srgbClr val="D9DEE3"/>
            </a:solidFill>
            <a:prstDash val="solid"/>
          </a:ln>
        </p:spPr>
        <p:txBody>
          <a:bodyPr/>
          <a:lstStyle/>
          <a:p>
            <a:endParaRPr lang="en-US"/>
          </a:p>
        </p:txBody>
      </p:sp>
      <p:sp>
        <p:nvSpPr>
          <p:cNvPr id="14" name="Text 12"/>
          <p:cNvSpPr/>
          <p:nvPr/>
        </p:nvSpPr>
        <p:spPr>
          <a:xfrm>
            <a:off x="6583680" y="2240280"/>
            <a:ext cx="822960" cy="777240"/>
          </a:xfrm>
          <a:prstGeom prst="rect">
            <a:avLst/>
          </a:prstGeom>
          <a:noFill/>
          <a:ln/>
        </p:spPr>
        <p:txBody>
          <a:bodyPr wrap="square" lIns="0" tIns="0" rIns="0" bIns="0" rtlCol="0" anchor="ctr"/>
          <a:lstStyle/>
          <a:p>
            <a:pPr marL="0" indent="0">
              <a:buNone/>
            </a:pPr>
            <a:r>
              <a:rPr lang="en-US" sz="2600" b="1" dirty="0">
                <a:solidFill>
                  <a:srgbClr val="BF5700"/>
                </a:solidFill>
                <a:latin typeface="Georgia" pitchFamily="34" charset="0"/>
                <a:ea typeface="Georgia" pitchFamily="34" charset="-122"/>
                <a:cs typeface="Georgia" pitchFamily="34" charset="-120"/>
              </a:rPr>
              <a:t>Q1</a:t>
            </a:r>
            <a:endParaRPr lang="en-US" sz="2600" dirty="0"/>
          </a:p>
        </p:txBody>
      </p:sp>
      <p:sp>
        <p:nvSpPr>
          <p:cNvPr id="15" name="Text 13"/>
          <p:cNvSpPr/>
          <p:nvPr/>
        </p:nvSpPr>
        <p:spPr>
          <a:xfrm>
            <a:off x="7498080" y="2286000"/>
            <a:ext cx="4343400" cy="73152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Can a concept-driven head match a deep baseline on melanoma classification?</a:t>
            </a:r>
            <a:endParaRPr lang="en-US" sz="1300" dirty="0"/>
          </a:p>
        </p:txBody>
      </p:sp>
      <p:sp>
        <p:nvSpPr>
          <p:cNvPr id="16" name="Shape 14"/>
          <p:cNvSpPr/>
          <p:nvPr/>
        </p:nvSpPr>
        <p:spPr>
          <a:xfrm>
            <a:off x="6583680" y="3200400"/>
            <a:ext cx="5303520" cy="0"/>
          </a:xfrm>
          <a:prstGeom prst="line">
            <a:avLst/>
          </a:prstGeom>
          <a:noFill/>
          <a:ln w="6350">
            <a:solidFill>
              <a:srgbClr val="D9DEE3"/>
            </a:solidFill>
            <a:prstDash val="solid"/>
          </a:ln>
        </p:spPr>
        <p:txBody>
          <a:bodyPr/>
          <a:lstStyle/>
          <a:p>
            <a:endParaRPr lang="en-US"/>
          </a:p>
        </p:txBody>
      </p:sp>
      <p:sp>
        <p:nvSpPr>
          <p:cNvPr id="17" name="Text 15"/>
          <p:cNvSpPr/>
          <p:nvPr/>
        </p:nvSpPr>
        <p:spPr>
          <a:xfrm>
            <a:off x="6583680" y="3291840"/>
            <a:ext cx="822960" cy="777240"/>
          </a:xfrm>
          <a:prstGeom prst="rect">
            <a:avLst/>
          </a:prstGeom>
          <a:noFill/>
          <a:ln/>
        </p:spPr>
        <p:txBody>
          <a:bodyPr wrap="square" lIns="0" tIns="0" rIns="0" bIns="0" rtlCol="0" anchor="ctr"/>
          <a:lstStyle/>
          <a:p>
            <a:pPr marL="0" indent="0">
              <a:buNone/>
            </a:pPr>
            <a:r>
              <a:rPr lang="en-US" sz="2600" b="1" dirty="0">
                <a:solidFill>
                  <a:srgbClr val="BF5700"/>
                </a:solidFill>
                <a:latin typeface="Georgia" pitchFamily="34" charset="0"/>
                <a:ea typeface="Georgia" pitchFamily="34" charset="-122"/>
                <a:cs typeface="Georgia" pitchFamily="34" charset="-120"/>
              </a:rPr>
              <a:t>Q2</a:t>
            </a:r>
            <a:endParaRPr lang="en-US" sz="2600" dirty="0"/>
          </a:p>
        </p:txBody>
      </p:sp>
      <p:sp>
        <p:nvSpPr>
          <p:cNvPr id="18" name="Text 16"/>
          <p:cNvSpPr/>
          <p:nvPr/>
        </p:nvSpPr>
        <p:spPr>
          <a:xfrm>
            <a:off x="7498080" y="3337560"/>
            <a:ext cx="4343400" cy="73152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Do errors concentrate in specific Fitzpatrick skin-tone buckets?</a:t>
            </a:r>
            <a:endParaRPr lang="en-US" sz="1300" dirty="0"/>
          </a:p>
        </p:txBody>
      </p:sp>
      <p:sp>
        <p:nvSpPr>
          <p:cNvPr id="19" name="Shape 17"/>
          <p:cNvSpPr/>
          <p:nvPr/>
        </p:nvSpPr>
        <p:spPr>
          <a:xfrm>
            <a:off x="6583680" y="4251960"/>
            <a:ext cx="5303520" cy="0"/>
          </a:xfrm>
          <a:prstGeom prst="line">
            <a:avLst/>
          </a:prstGeom>
          <a:noFill/>
          <a:ln w="6350">
            <a:solidFill>
              <a:srgbClr val="D9DEE3"/>
            </a:solidFill>
            <a:prstDash val="solid"/>
          </a:ln>
        </p:spPr>
        <p:txBody>
          <a:bodyPr/>
          <a:lstStyle/>
          <a:p>
            <a:endParaRPr lang="en-US"/>
          </a:p>
        </p:txBody>
      </p:sp>
      <p:sp>
        <p:nvSpPr>
          <p:cNvPr id="20" name="Text 18"/>
          <p:cNvSpPr/>
          <p:nvPr/>
        </p:nvSpPr>
        <p:spPr>
          <a:xfrm>
            <a:off x="6583680" y="4343400"/>
            <a:ext cx="822960" cy="777240"/>
          </a:xfrm>
          <a:prstGeom prst="rect">
            <a:avLst/>
          </a:prstGeom>
          <a:noFill/>
          <a:ln/>
        </p:spPr>
        <p:txBody>
          <a:bodyPr wrap="square" lIns="0" tIns="0" rIns="0" bIns="0" rtlCol="0" anchor="ctr"/>
          <a:lstStyle/>
          <a:p>
            <a:pPr marL="0" indent="0">
              <a:buNone/>
            </a:pPr>
            <a:r>
              <a:rPr lang="en-US" sz="2600" b="1" dirty="0">
                <a:solidFill>
                  <a:srgbClr val="BF5700"/>
                </a:solidFill>
                <a:latin typeface="Georgia" pitchFamily="34" charset="0"/>
                <a:ea typeface="Georgia" pitchFamily="34" charset="-122"/>
                <a:cs typeface="Georgia" pitchFamily="34" charset="-120"/>
              </a:rPr>
              <a:t>Q3</a:t>
            </a:r>
            <a:endParaRPr lang="en-US" sz="2600" dirty="0"/>
          </a:p>
        </p:txBody>
      </p:sp>
      <p:sp>
        <p:nvSpPr>
          <p:cNvPr id="21" name="Text 19"/>
          <p:cNvSpPr/>
          <p:nvPr/>
        </p:nvSpPr>
        <p:spPr>
          <a:xfrm>
            <a:off x="7498080" y="4389120"/>
            <a:ext cx="4343400" cy="73152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Do concept interventions rescue misdiagnoses and which concepts matter?</a:t>
            </a:r>
            <a:endParaRPr lang="en-US" sz="1300" dirty="0"/>
          </a:p>
        </p:txBody>
      </p:sp>
      <p:sp>
        <p:nvSpPr>
          <p:cNvPr id="22" name="Shape 20"/>
          <p:cNvSpPr/>
          <p:nvPr/>
        </p:nvSpPr>
        <p:spPr>
          <a:xfrm>
            <a:off x="6583680" y="5303520"/>
            <a:ext cx="5303520" cy="0"/>
          </a:xfrm>
          <a:prstGeom prst="line">
            <a:avLst/>
          </a:prstGeom>
          <a:noFill/>
          <a:ln w="6350">
            <a:solidFill>
              <a:srgbClr val="D9DEE3"/>
            </a:solidFill>
            <a:prstDash val="solid"/>
          </a:ln>
        </p:spPr>
        <p:txBody>
          <a:bodyPr/>
          <a:lstStyle/>
          <a:p>
            <a:endParaRPr lang="en-US"/>
          </a:p>
        </p:txBody>
      </p:sp>
      <p:sp>
        <p:nvSpPr>
          <p:cNvPr id="23" name="Shape 21"/>
          <p:cNvSpPr/>
          <p:nvPr/>
        </p:nvSpPr>
        <p:spPr>
          <a:xfrm>
            <a:off x="6583680" y="6217920"/>
            <a:ext cx="5303520" cy="0"/>
          </a:xfrm>
          <a:prstGeom prst="line">
            <a:avLst/>
          </a:prstGeom>
          <a:noFill/>
          <a:ln w="6350">
            <a:solidFill>
              <a:srgbClr val="D9DEE3"/>
            </a:solidFill>
            <a:prstDash val="solid"/>
          </a:ln>
        </p:spPr>
        <p:txBody>
          <a:bodyPr/>
          <a:lstStyle/>
          <a:p>
            <a:endParaRPr lang="en-US"/>
          </a:p>
        </p:txBody>
      </p:sp>
      <p:sp>
        <p:nvSpPr>
          <p:cNvPr id="24" name="Text 22"/>
          <p:cNvSpPr/>
          <p:nvPr/>
        </p:nvSpPr>
        <p:spPr>
          <a:xfrm>
            <a:off x="6583680" y="5394960"/>
            <a:ext cx="822960" cy="777240"/>
          </a:xfrm>
          <a:prstGeom prst="rect">
            <a:avLst/>
          </a:prstGeom>
          <a:noFill/>
          <a:ln/>
        </p:spPr>
        <p:txBody>
          <a:bodyPr wrap="square" lIns="0" tIns="0" rIns="0" bIns="0" rtlCol="0" anchor="ctr"/>
          <a:lstStyle/>
          <a:p>
            <a:pPr marL="0" indent="0">
              <a:buNone/>
            </a:pPr>
            <a:r>
              <a:rPr lang="en-US" sz="2600" b="1" dirty="0">
                <a:solidFill>
                  <a:srgbClr val="BF5700"/>
                </a:solidFill>
                <a:latin typeface="Georgia" pitchFamily="34" charset="0"/>
                <a:ea typeface="Georgia" pitchFamily="34" charset="-122"/>
                <a:cs typeface="Georgia" pitchFamily="34" charset="-120"/>
              </a:rPr>
              <a:t>Q4</a:t>
            </a:r>
            <a:endParaRPr lang="en-US" sz="2600" dirty="0"/>
          </a:p>
        </p:txBody>
      </p:sp>
      <p:sp>
        <p:nvSpPr>
          <p:cNvPr id="25" name="Text 23"/>
          <p:cNvSpPr/>
          <p:nvPr/>
        </p:nvSpPr>
        <p:spPr>
          <a:xfrm>
            <a:off x="7498080" y="5440680"/>
            <a:ext cx="4343400" cy="73152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Are CBM explanations quantitatively more faithful than Grad-CAM?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600" dirty="0">
                <a:solidFill>
                  <a:srgbClr val="BF5700"/>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548640" y="713232"/>
            <a:ext cx="11155680" cy="594360"/>
          </a:xfrm>
          <a:prstGeom prst="rect">
            <a:avLst/>
          </a:prstGeom>
          <a:noFill/>
          <a:ln/>
        </p:spPr>
        <p:txBody>
          <a:bodyPr wrap="square" lIns="0" tIns="0" rIns="0" bIns="0" rtlCol="0" anchor="ctr"/>
          <a:lstStyle/>
          <a:p>
            <a:pPr marL="0" indent="0">
              <a:buNone/>
            </a:pPr>
            <a:r>
              <a:rPr lang="en-US" sz="2600" b="1" dirty="0">
                <a:solidFill>
                  <a:srgbClr val="333F48"/>
                </a:solidFill>
                <a:latin typeface="Georgia" pitchFamily="34" charset="0"/>
                <a:ea typeface="Georgia" pitchFamily="34" charset="-122"/>
                <a:cs typeface="Georgia" pitchFamily="34" charset="-120"/>
              </a:rPr>
              <a:t>End-to-end pipeline</a:t>
            </a:r>
            <a:endParaRPr lang="en-US" sz="2600" dirty="0"/>
          </a:p>
        </p:txBody>
      </p:sp>
      <p:sp>
        <p:nvSpPr>
          <p:cNvPr id="4" name="Shape 2"/>
          <p:cNvSpPr/>
          <p:nvPr/>
        </p:nvSpPr>
        <p:spPr>
          <a:xfrm>
            <a:off x="548640" y="6473952"/>
            <a:ext cx="11064240" cy="0"/>
          </a:xfrm>
          <a:prstGeom prst="line">
            <a:avLst/>
          </a:prstGeom>
          <a:noFill/>
          <a:ln w="9525">
            <a:solidFill>
              <a:srgbClr val="D9DEE3"/>
            </a:solidFill>
            <a:prstDash val="solid"/>
          </a:ln>
        </p:spPr>
        <p:txBody>
          <a:bodyPr/>
          <a:lstStyle/>
          <a:p>
            <a:endParaRPr lang="en-US"/>
          </a:p>
        </p:txBody>
      </p:sp>
      <p:sp>
        <p:nvSpPr>
          <p:cNvPr id="5" name="Text 3"/>
          <p:cNvSpPr/>
          <p:nvPr/>
        </p:nvSpPr>
        <p:spPr>
          <a:xfrm>
            <a:off x="548640" y="6528816"/>
            <a:ext cx="7315200" cy="237744"/>
          </a:xfrm>
          <a:prstGeom prst="rect">
            <a:avLst/>
          </a:prstGeom>
          <a:noFill/>
          <a:ln/>
        </p:spPr>
        <p:txBody>
          <a:bodyPr wrap="square" lIns="0" tIns="0" rIns="0" bIns="0" rtlCol="0" anchor="ctr"/>
          <a:lstStyle/>
          <a:p>
            <a:pPr marL="0" indent="0">
              <a:buNone/>
            </a:pPr>
            <a:r>
              <a:rPr lang="en-US" sz="900" i="1" dirty="0">
                <a:solidFill>
                  <a:srgbClr val="6C7A89"/>
                </a:solidFill>
                <a:latin typeface="Calibri" pitchFamily="34" charset="0"/>
                <a:ea typeface="Calibri" pitchFamily="34" charset="-122"/>
                <a:cs typeface="Calibri" pitchFamily="34" charset="-120"/>
              </a:rPr>
              <a:t>VLM-CBM Dermatology  ·  Fitzpatrick Fairness Audit</a:t>
            </a:r>
            <a:endParaRPr lang="en-US" sz="900" dirty="0"/>
          </a:p>
        </p:txBody>
      </p:sp>
      <p:sp>
        <p:nvSpPr>
          <p:cNvPr id="6" name="Text 4"/>
          <p:cNvSpPr/>
          <p:nvPr/>
        </p:nvSpPr>
        <p:spPr>
          <a:xfrm>
            <a:off x="7863840" y="6528816"/>
            <a:ext cx="3200400" cy="237744"/>
          </a:xfrm>
          <a:prstGeom prst="rect">
            <a:avLst/>
          </a:prstGeom>
          <a:noFill/>
          <a:ln/>
        </p:spPr>
        <p:txBody>
          <a:bodyPr wrap="square" lIns="0" tIns="0" rIns="0" bIns="0" rtlCol="0" anchor="ctr"/>
          <a:lstStyle/>
          <a:p>
            <a:pPr marL="0" indent="0" algn="r">
              <a:buNone/>
            </a:pPr>
            <a:r>
              <a:rPr lang="en-US" sz="900" i="1" dirty="0">
                <a:solidFill>
                  <a:srgbClr val="6C7A89"/>
                </a:solidFill>
                <a:latin typeface="Calibri" pitchFamily="34" charset="0"/>
                <a:ea typeface="Calibri" pitchFamily="34" charset="-122"/>
                <a:cs typeface="Calibri" pitchFamily="34" charset="-120"/>
              </a:rPr>
              <a:t>Deepesh Khanna  ·  UT Austin</a:t>
            </a:r>
            <a:endParaRPr lang="en-US" sz="900" dirty="0"/>
          </a:p>
        </p:txBody>
      </p:sp>
      <p:sp>
        <p:nvSpPr>
          <p:cNvPr id="7" name="Text 5"/>
          <p:cNvSpPr/>
          <p:nvPr/>
        </p:nvSpPr>
        <p:spPr>
          <a:xfrm>
            <a:off x="11430000" y="6528816"/>
            <a:ext cx="274320" cy="237744"/>
          </a:xfrm>
          <a:prstGeom prst="rect">
            <a:avLst/>
          </a:prstGeom>
          <a:noFill/>
          <a:ln/>
        </p:spPr>
        <p:txBody>
          <a:bodyPr wrap="square" lIns="0" tIns="0" rIns="0" bIns="0" rtlCol="0" anchor="ctr"/>
          <a:lstStyle/>
          <a:p>
            <a:pPr marL="0" indent="0" algn="r">
              <a:buNone/>
            </a:pPr>
            <a:r>
              <a:rPr lang="en-US" sz="900" b="1" dirty="0">
                <a:solidFill>
                  <a:srgbClr val="BF5700"/>
                </a:solidFill>
                <a:latin typeface="Calibri" pitchFamily="34" charset="0"/>
                <a:ea typeface="Calibri" pitchFamily="34" charset="-122"/>
                <a:cs typeface="Calibri" pitchFamily="34" charset="-120"/>
              </a:rPr>
              <a:t>3</a:t>
            </a:r>
            <a:endParaRPr lang="en-US" sz="900" dirty="0"/>
          </a:p>
        </p:txBody>
      </p:sp>
      <p:pic>
        <p:nvPicPr>
          <p:cNvPr id="8" name="Image 0" descr="/sessions/focused-elegant-hawking/mnt/AIH Final/vlm-cbm-derm-fairness/outputs/figures/fig1_pipeline.png"/>
          <p:cNvPicPr>
            <a:picLocks noChangeAspect="1"/>
          </p:cNvPicPr>
          <p:nvPr/>
        </p:nvPicPr>
        <p:blipFill>
          <a:blip r:embed="rId3"/>
          <a:srcRect/>
          <a:stretch/>
        </p:blipFill>
        <p:spPr>
          <a:xfrm>
            <a:off x="548640" y="1508760"/>
            <a:ext cx="7772400" cy="4754880"/>
          </a:xfrm>
          <a:prstGeom prst="rect">
            <a:avLst/>
          </a:prstGeom>
        </p:spPr>
      </p:pic>
      <p:sp>
        <p:nvSpPr>
          <p:cNvPr id="9" name="Text 6"/>
          <p:cNvSpPr/>
          <p:nvPr/>
        </p:nvSpPr>
        <p:spPr>
          <a:xfrm>
            <a:off x="8458200" y="1508760"/>
            <a:ext cx="457200" cy="731520"/>
          </a:xfrm>
          <a:prstGeom prst="rect">
            <a:avLst/>
          </a:prstGeom>
          <a:noFill/>
          <a:ln/>
        </p:spPr>
        <p:txBody>
          <a:bodyPr wrap="square" lIns="0" tIns="0" rIns="0" bIns="0" rtlCol="0" anchor="t"/>
          <a:lstStyle/>
          <a:p>
            <a:pPr marL="0" indent="0" algn="l">
              <a:buNone/>
            </a:pPr>
            <a:r>
              <a:rPr lang="en-US" sz="2600" b="1" dirty="0">
                <a:solidFill>
                  <a:srgbClr val="BF5700"/>
                </a:solidFill>
                <a:latin typeface="Georgia" pitchFamily="34" charset="0"/>
                <a:ea typeface="Georgia" pitchFamily="34" charset="-122"/>
                <a:cs typeface="Georgia" pitchFamily="34" charset="-120"/>
              </a:rPr>
              <a:t>1</a:t>
            </a:r>
            <a:endParaRPr lang="en-US" sz="2600" dirty="0"/>
          </a:p>
        </p:txBody>
      </p:sp>
      <p:sp>
        <p:nvSpPr>
          <p:cNvPr id="10" name="Text 7"/>
          <p:cNvSpPr/>
          <p:nvPr/>
        </p:nvSpPr>
        <p:spPr>
          <a:xfrm>
            <a:off x="9052560" y="1527048"/>
            <a:ext cx="3017520" cy="320040"/>
          </a:xfrm>
          <a:prstGeom prst="rect">
            <a:avLst/>
          </a:prstGeom>
          <a:noFill/>
          <a:ln/>
        </p:spPr>
        <p:txBody>
          <a:bodyPr wrap="square" lIns="0" tIns="0" rIns="0" bIns="0" rtlCol="0" anchor="ctr"/>
          <a:lstStyle/>
          <a:p>
            <a:pPr marL="0" indent="0">
              <a:buNone/>
            </a:pPr>
            <a:r>
              <a:rPr lang="en-US" sz="1350" b="1" dirty="0">
                <a:solidFill>
                  <a:srgbClr val="333F48"/>
                </a:solidFill>
                <a:latin typeface="Georgia" pitchFamily="34" charset="0"/>
                <a:ea typeface="Georgia" pitchFamily="34" charset="-122"/>
                <a:cs typeface="Georgia" pitchFamily="34" charset="-120"/>
              </a:rPr>
              <a:t>Concept prediction</a:t>
            </a:r>
            <a:endParaRPr lang="en-US" sz="1350" dirty="0"/>
          </a:p>
        </p:txBody>
      </p:sp>
      <p:sp>
        <p:nvSpPr>
          <p:cNvPr id="11" name="Text 8"/>
          <p:cNvSpPr/>
          <p:nvPr/>
        </p:nvSpPr>
        <p:spPr>
          <a:xfrm>
            <a:off x="9052560" y="1837944"/>
            <a:ext cx="3017520" cy="45720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Frozen BiomedCLIP → 9 dermoscopic concepts via prompt pairs</a:t>
            </a:r>
            <a:endParaRPr lang="en-US" sz="1050" dirty="0"/>
          </a:p>
        </p:txBody>
      </p:sp>
      <p:sp>
        <p:nvSpPr>
          <p:cNvPr id="12" name="Text 9"/>
          <p:cNvSpPr/>
          <p:nvPr/>
        </p:nvSpPr>
        <p:spPr>
          <a:xfrm>
            <a:off x="8458200" y="2304288"/>
            <a:ext cx="457200" cy="731520"/>
          </a:xfrm>
          <a:prstGeom prst="rect">
            <a:avLst/>
          </a:prstGeom>
          <a:noFill/>
          <a:ln/>
        </p:spPr>
        <p:txBody>
          <a:bodyPr wrap="square" lIns="0" tIns="0" rIns="0" bIns="0" rtlCol="0" anchor="t"/>
          <a:lstStyle/>
          <a:p>
            <a:pPr marL="0" indent="0" algn="l">
              <a:buNone/>
            </a:pPr>
            <a:r>
              <a:rPr lang="en-US" sz="2600" b="1" dirty="0">
                <a:solidFill>
                  <a:srgbClr val="BF5700"/>
                </a:solidFill>
                <a:latin typeface="Georgia" pitchFamily="34" charset="0"/>
                <a:ea typeface="Georgia" pitchFamily="34" charset="-122"/>
                <a:cs typeface="Georgia" pitchFamily="34" charset="-120"/>
              </a:rPr>
              <a:t>2</a:t>
            </a:r>
            <a:endParaRPr lang="en-US" sz="2600" dirty="0"/>
          </a:p>
        </p:txBody>
      </p:sp>
      <p:sp>
        <p:nvSpPr>
          <p:cNvPr id="13" name="Text 10"/>
          <p:cNvSpPr/>
          <p:nvPr/>
        </p:nvSpPr>
        <p:spPr>
          <a:xfrm>
            <a:off x="9052560" y="2322576"/>
            <a:ext cx="3017520" cy="320040"/>
          </a:xfrm>
          <a:prstGeom prst="rect">
            <a:avLst/>
          </a:prstGeom>
          <a:noFill/>
          <a:ln/>
        </p:spPr>
        <p:txBody>
          <a:bodyPr wrap="square" lIns="0" tIns="0" rIns="0" bIns="0" rtlCol="0" anchor="ctr"/>
          <a:lstStyle/>
          <a:p>
            <a:pPr marL="0" indent="0">
              <a:buNone/>
            </a:pPr>
            <a:r>
              <a:rPr lang="en-US" sz="1350" b="1" dirty="0">
                <a:solidFill>
                  <a:srgbClr val="333F48"/>
                </a:solidFill>
                <a:latin typeface="Georgia" pitchFamily="34" charset="0"/>
                <a:ea typeface="Georgia" pitchFamily="34" charset="-122"/>
                <a:cs typeface="Georgia" pitchFamily="34" charset="-120"/>
              </a:rPr>
              <a:t>CBM head</a:t>
            </a:r>
            <a:endParaRPr lang="en-US" sz="1350" dirty="0"/>
          </a:p>
        </p:txBody>
      </p:sp>
      <p:sp>
        <p:nvSpPr>
          <p:cNvPr id="14" name="Text 11"/>
          <p:cNvSpPr/>
          <p:nvPr/>
        </p:nvSpPr>
        <p:spPr>
          <a:xfrm>
            <a:off x="9052560" y="2633472"/>
            <a:ext cx="3017520" cy="45720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Sparse L₁ logistic regression on the concept probabilities</a:t>
            </a:r>
            <a:endParaRPr lang="en-US" sz="1050" dirty="0"/>
          </a:p>
        </p:txBody>
      </p:sp>
      <p:sp>
        <p:nvSpPr>
          <p:cNvPr id="15" name="Text 12"/>
          <p:cNvSpPr/>
          <p:nvPr/>
        </p:nvSpPr>
        <p:spPr>
          <a:xfrm>
            <a:off x="8458200" y="3099816"/>
            <a:ext cx="457200" cy="731520"/>
          </a:xfrm>
          <a:prstGeom prst="rect">
            <a:avLst/>
          </a:prstGeom>
          <a:noFill/>
          <a:ln/>
        </p:spPr>
        <p:txBody>
          <a:bodyPr wrap="square" lIns="0" tIns="0" rIns="0" bIns="0" rtlCol="0" anchor="t"/>
          <a:lstStyle/>
          <a:p>
            <a:pPr marL="0" indent="0" algn="l">
              <a:buNone/>
            </a:pPr>
            <a:r>
              <a:rPr lang="en-US" sz="2600" b="1" dirty="0">
                <a:solidFill>
                  <a:srgbClr val="BF5700"/>
                </a:solidFill>
                <a:latin typeface="Georgia" pitchFamily="34" charset="0"/>
                <a:ea typeface="Georgia" pitchFamily="34" charset="-122"/>
                <a:cs typeface="Georgia" pitchFamily="34" charset="-120"/>
              </a:rPr>
              <a:t>3</a:t>
            </a:r>
            <a:endParaRPr lang="en-US" sz="2600" dirty="0"/>
          </a:p>
        </p:txBody>
      </p:sp>
      <p:sp>
        <p:nvSpPr>
          <p:cNvPr id="16" name="Text 13"/>
          <p:cNvSpPr/>
          <p:nvPr/>
        </p:nvSpPr>
        <p:spPr>
          <a:xfrm>
            <a:off x="9052560" y="3118104"/>
            <a:ext cx="3017520" cy="320040"/>
          </a:xfrm>
          <a:prstGeom prst="rect">
            <a:avLst/>
          </a:prstGeom>
          <a:noFill/>
          <a:ln/>
        </p:spPr>
        <p:txBody>
          <a:bodyPr wrap="square" lIns="0" tIns="0" rIns="0" bIns="0" rtlCol="0" anchor="ctr"/>
          <a:lstStyle/>
          <a:p>
            <a:pPr marL="0" indent="0">
              <a:buNone/>
            </a:pPr>
            <a:r>
              <a:rPr lang="en-US" sz="1350" b="1" dirty="0">
                <a:solidFill>
                  <a:srgbClr val="333F48"/>
                </a:solidFill>
                <a:latin typeface="Georgia" pitchFamily="34" charset="0"/>
                <a:ea typeface="Georgia" pitchFamily="34" charset="-122"/>
                <a:cs typeface="Georgia" pitchFamily="34" charset="-120"/>
              </a:rPr>
              <a:t>Baselines</a:t>
            </a:r>
            <a:endParaRPr lang="en-US" sz="1350" dirty="0"/>
          </a:p>
        </p:txBody>
      </p:sp>
      <p:sp>
        <p:nvSpPr>
          <p:cNvPr id="17" name="Text 14"/>
          <p:cNvSpPr/>
          <p:nvPr/>
        </p:nvSpPr>
        <p:spPr>
          <a:xfrm>
            <a:off x="9052560" y="3429000"/>
            <a:ext cx="3017520" cy="45720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EfficientNet-B0 &amp; ResNet-50 on HAM10000 with Grad-CAM</a:t>
            </a:r>
            <a:endParaRPr lang="en-US" sz="1050" dirty="0"/>
          </a:p>
        </p:txBody>
      </p:sp>
      <p:sp>
        <p:nvSpPr>
          <p:cNvPr id="18" name="Text 15"/>
          <p:cNvSpPr/>
          <p:nvPr/>
        </p:nvSpPr>
        <p:spPr>
          <a:xfrm>
            <a:off x="8458200" y="3895344"/>
            <a:ext cx="457200" cy="731520"/>
          </a:xfrm>
          <a:prstGeom prst="rect">
            <a:avLst/>
          </a:prstGeom>
          <a:noFill/>
          <a:ln/>
        </p:spPr>
        <p:txBody>
          <a:bodyPr wrap="square" lIns="0" tIns="0" rIns="0" bIns="0" rtlCol="0" anchor="t"/>
          <a:lstStyle/>
          <a:p>
            <a:pPr marL="0" indent="0" algn="l">
              <a:buNone/>
            </a:pPr>
            <a:r>
              <a:rPr lang="en-US" sz="2600" b="1" dirty="0">
                <a:solidFill>
                  <a:srgbClr val="BF5700"/>
                </a:solidFill>
                <a:latin typeface="Georgia" pitchFamily="34" charset="0"/>
                <a:ea typeface="Georgia" pitchFamily="34" charset="-122"/>
                <a:cs typeface="Georgia" pitchFamily="34" charset="-120"/>
              </a:rPr>
              <a:t>4</a:t>
            </a:r>
            <a:endParaRPr lang="en-US" sz="2600" dirty="0"/>
          </a:p>
        </p:txBody>
      </p:sp>
      <p:sp>
        <p:nvSpPr>
          <p:cNvPr id="19" name="Text 16"/>
          <p:cNvSpPr/>
          <p:nvPr/>
        </p:nvSpPr>
        <p:spPr>
          <a:xfrm>
            <a:off x="9052560" y="3913632"/>
            <a:ext cx="3017520" cy="320040"/>
          </a:xfrm>
          <a:prstGeom prst="rect">
            <a:avLst/>
          </a:prstGeom>
          <a:noFill/>
          <a:ln/>
        </p:spPr>
        <p:txBody>
          <a:bodyPr wrap="square" lIns="0" tIns="0" rIns="0" bIns="0" rtlCol="0" anchor="ctr"/>
          <a:lstStyle/>
          <a:p>
            <a:pPr marL="0" indent="0">
              <a:buNone/>
            </a:pPr>
            <a:r>
              <a:rPr lang="en-US" sz="1350" b="1" dirty="0">
                <a:solidFill>
                  <a:srgbClr val="333F48"/>
                </a:solidFill>
                <a:latin typeface="Georgia" pitchFamily="34" charset="0"/>
                <a:ea typeface="Georgia" pitchFamily="34" charset="-122"/>
                <a:cs typeface="Georgia" pitchFamily="34" charset="-120"/>
              </a:rPr>
              <a:t>Fairness audit</a:t>
            </a:r>
            <a:endParaRPr lang="en-US" sz="1350" dirty="0"/>
          </a:p>
        </p:txBody>
      </p:sp>
      <p:sp>
        <p:nvSpPr>
          <p:cNvPr id="20" name="Text 17"/>
          <p:cNvSpPr/>
          <p:nvPr/>
        </p:nvSpPr>
        <p:spPr>
          <a:xfrm>
            <a:off x="9052560" y="4224528"/>
            <a:ext cx="3017520" cy="45720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Per-concept &amp; per-bucket AUROC, Spec, ECE, EOG, DPG</a:t>
            </a:r>
            <a:endParaRPr lang="en-US" sz="1050" dirty="0"/>
          </a:p>
        </p:txBody>
      </p:sp>
      <p:sp>
        <p:nvSpPr>
          <p:cNvPr id="21" name="Text 18"/>
          <p:cNvSpPr/>
          <p:nvPr/>
        </p:nvSpPr>
        <p:spPr>
          <a:xfrm>
            <a:off x="8458200" y="4690872"/>
            <a:ext cx="457200" cy="731520"/>
          </a:xfrm>
          <a:prstGeom prst="rect">
            <a:avLst/>
          </a:prstGeom>
          <a:noFill/>
          <a:ln/>
        </p:spPr>
        <p:txBody>
          <a:bodyPr wrap="square" lIns="0" tIns="0" rIns="0" bIns="0" rtlCol="0" anchor="t"/>
          <a:lstStyle/>
          <a:p>
            <a:pPr marL="0" indent="0" algn="l">
              <a:buNone/>
            </a:pPr>
            <a:r>
              <a:rPr lang="en-US" sz="2600" b="1" dirty="0">
                <a:solidFill>
                  <a:srgbClr val="BF5700"/>
                </a:solidFill>
                <a:latin typeface="Georgia" pitchFamily="34" charset="0"/>
                <a:ea typeface="Georgia" pitchFamily="34" charset="-122"/>
                <a:cs typeface="Georgia" pitchFamily="34" charset="-120"/>
              </a:rPr>
              <a:t>5</a:t>
            </a:r>
            <a:endParaRPr lang="en-US" sz="2600" dirty="0"/>
          </a:p>
        </p:txBody>
      </p:sp>
      <p:sp>
        <p:nvSpPr>
          <p:cNvPr id="22" name="Text 19"/>
          <p:cNvSpPr/>
          <p:nvPr/>
        </p:nvSpPr>
        <p:spPr>
          <a:xfrm>
            <a:off x="9052560" y="4709160"/>
            <a:ext cx="3017520" cy="320040"/>
          </a:xfrm>
          <a:prstGeom prst="rect">
            <a:avLst/>
          </a:prstGeom>
          <a:noFill/>
          <a:ln/>
        </p:spPr>
        <p:txBody>
          <a:bodyPr wrap="square" lIns="0" tIns="0" rIns="0" bIns="0" rtlCol="0" anchor="ctr"/>
          <a:lstStyle/>
          <a:p>
            <a:pPr marL="0" indent="0">
              <a:buNone/>
            </a:pPr>
            <a:r>
              <a:rPr lang="en-US" sz="1350" b="1" dirty="0">
                <a:solidFill>
                  <a:srgbClr val="333F48"/>
                </a:solidFill>
                <a:latin typeface="Georgia" pitchFamily="34" charset="0"/>
                <a:ea typeface="Georgia" pitchFamily="34" charset="-122"/>
                <a:cs typeface="Georgia" pitchFamily="34" charset="-120"/>
              </a:rPr>
              <a:t>Concept intervention</a:t>
            </a:r>
            <a:endParaRPr lang="en-US" sz="1350" dirty="0"/>
          </a:p>
        </p:txBody>
      </p:sp>
      <p:sp>
        <p:nvSpPr>
          <p:cNvPr id="23" name="Text 20"/>
          <p:cNvSpPr/>
          <p:nvPr/>
        </p:nvSpPr>
        <p:spPr>
          <a:xfrm>
            <a:off x="9052560" y="5020056"/>
            <a:ext cx="3017520" cy="45720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Correct one concept at a time → measure rescue rate</a:t>
            </a:r>
            <a:endParaRPr lang="en-US" sz="1050" dirty="0"/>
          </a:p>
        </p:txBody>
      </p:sp>
      <p:sp>
        <p:nvSpPr>
          <p:cNvPr id="24" name="Text 21"/>
          <p:cNvSpPr/>
          <p:nvPr/>
        </p:nvSpPr>
        <p:spPr>
          <a:xfrm>
            <a:off x="8458200" y="5486400"/>
            <a:ext cx="457200" cy="731520"/>
          </a:xfrm>
          <a:prstGeom prst="rect">
            <a:avLst/>
          </a:prstGeom>
          <a:noFill/>
          <a:ln/>
        </p:spPr>
        <p:txBody>
          <a:bodyPr wrap="square" lIns="0" tIns="0" rIns="0" bIns="0" rtlCol="0" anchor="t"/>
          <a:lstStyle/>
          <a:p>
            <a:pPr marL="0" indent="0" algn="l">
              <a:buNone/>
            </a:pPr>
            <a:r>
              <a:rPr lang="en-US" sz="2600" b="1" dirty="0">
                <a:solidFill>
                  <a:srgbClr val="BF5700"/>
                </a:solidFill>
                <a:latin typeface="Georgia" pitchFamily="34" charset="0"/>
                <a:ea typeface="Georgia" pitchFamily="34" charset="-122"/>
                <a:cs typeface="Georgia" pitchFamily="34" charset="-120"/>
              </a:rPr>
              <a:t>6</a:t>
            </a:r>
            <a:endParaRPr lang="en-US" sz="2600" dirty="0"/>
          </a:p>
        </p:txBody>
      </p:sp>
      <p:sp>
        <p:nvSpPr>
          <p:cNvPr id="25" name="Text 22"/>
          <p:cNvSpPr/>
          <p:nvPr/>
        </p:nvSpPr>
        <p:spPr>
          <a:xfrm>
            <a:off x="9052560" y="5504688"/>
            <a:ext cx="3017520" cy="320040"/>
          </a:xfrm>
          <a:prstGeom prst="rect">
            <a:avLst/>
          </a:prstGeom>
          <a:noFill/>
          <a:ln/>
        </p:spPr>
        <p:txBody>
          <a:bodyPr wrap="square" lIns="0" tIns="0" rIns="0" bIns="0" rtlCol="0" anchor="ctr"/>
          <a:lstStyle/>
          <a:p>
            <a:pPr marL="0" indent="0">
              <a:buNone/>
            </a:pPr>
            <a:r>
              <a:rPr lang="en-US" sz="1350" b="1" dirty="0">
                <a:solidFill>
                  <a:srgbClr val="333F48"/>
                </a:solidFill>
                <a:latin typeface="Georgia" pitchFamily="34" charset="0"/>
                <a:ea typeface="Georgia" pitchFamily="34" charset="-122"/>
                <a:cs typeface="Georgia" pitchFamily="34" charset="-120"/>
              </a:rPr>
              <a:t>Faithfulness ★</a:t>
            </a:r>
            <a:endParaRPr lang="en-US" sz="1350" dirty="0"/>
          </a:p>
        </p:txBody>
      </p:sp>
      <p:sp>
        <p:nvSpPr>
          <p:cNvPr id="26" name="Text 23"/>
          <p:cNvSpPr/>
          <p:nvPr/>
        </p:nvSpPr>
        <p:spPr>
          <a:xfrm>
            <a:off x="9052560" y="5815584"/>
            <a:ext cx="3017520" cy="45720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Insertion / deletion curves: concepts vs pixels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600" dirty="0">
                <a:solidFill>
                  <a:srgbClr val="BF5700"/>
                </a:solidFill>
                <a:latin typeface="Calibri" pitchFamily="34" charset="0"/>
                <a:ea typeface="Calibri" pitchFamily="34" charset="-122"/>
                <a:cs typeface="Calibri" pitchFamily="34" charset="-120"/>
              </a:rPr>
              <a:t>DATA</a:t>
            </a:r>
            <a:endParaRPr lang="en-US" sz="1100" dirty="0"/>
          </a:p>
        </p:txBody>
      </p:sp>
      <p:sp>
        <p:nvSpPr>
          <p:cNvPr id="3" name="Text 1"/>
          <p:cNvSpPr/>
          <p:nvPr/>
        </p:nvSpPr>
        <p:spPr>
          <a:xfrm>
            <a:off x="548640" y="713232"/>
            <a:ext cx="11155680" cy="594360"/>
          </a:xfrm>
          <a:prstGeom prst="rect">
            <a:avLst/>
          </a:prstGeom>
          <a:noFill/>
          <a:ln/>
        </p:spPr>
        <p:txBody>
          <a:bodyPr wrap="square" lIns="0" tIns="0" rIns="0" bIns="0" rtlCol="0" anchor="ctr"/>
          <a:lstStyle/>
          <a:p>
            <a:pPr marL="0" indent="0">
              <a:buNone/>
            </a:pPr>
            <a:r>
              <a:rPr lang="en-US" sz="2600" b="1" dirty="0">
                <a:solidFill>
                  <a:srgbClr val="333F48"/>
                </a:solidFill>
                <a:latin typeface="Georgia" pitchFamily="34" charset="0"/>
                <a:ea typeface="Georgia" pitchFamily="34" charset="-122"/>
                <a:cs typeface="Georgia" pitchFamily="34" charset="-120"/>
              </a:rPr>
              <a:t>Four cohorts, four roles</a:t>
            </a:r>
            <a:endParaRPr lang="en-US" sz="2600" dirty="0"/>
          </a:p>
        </p:txBody>
      </p:sp>
      <p:sp>
        <p:nvSpPr>
          <p:cNvPr id="4" name="Shape 2"/>
          <p:cNvSpPr/>
          <p:nvPr/>
        </p:nvSpPr>
        <p:spPr>
          <a:xfrm>
            <a:off x="548640" y="6473952"/>
            <a:ext cx="11064240" cy="0"/>
          </a:xfrm>
          <a:prstGeom prst="line">
            <a:avLst/>
          </a:prstGeom>
          <a:noFill/>
          <a:ln w="9525">
            <a:solidFill>
              <a:srgbClr val="D9DEE3"/>
            </a:solidFill>
            <a:prstDash val="solid"/>
          </a:ln>
        </p:spPr>
        <p:txBody>
          <a:bodyPr/>
          <a:lstStyle/>
          <a:p>
            <a:endParaRPr lang="en-US"/>
          </a:p>
        </p:txBody>
      </p:sp>
      <p:sp>
        <p:nvSpPr>
          <p:cNvPr id="5" name="Text 3"/>
          <p:cNvSpPr/>
          <p:nvPr/>
        </p:nvSpPr>
        <p:spPr>
          <a:xfrm>
            <a:off x="548640" y="6528816"/>
            <a:ext cx="7315200" cy="237744"/>
          </a:xfrm>
          <a:prstGeom prst="rect">
            <a:avLst/>
          </a:prstGeom>
          <a:noFill/>
          <a:ln/>
        </p:spPr>
        <p:txBody>
          <a:bodyPr wrap="square" lIns="0" tIns="0" rIns="0" bIns="0" rtlCol="0" anchor="ctr"/>
          <a:lstStyle/>
          <a:p>
            <a:pPr marL="0" indent="0">
              <a:buNone/>
            </a:pPr>
            <a:r>
              <a:rPr lang="en-US" sz="900" i="1" dirty="0">
                <a:solidFill>
                  <a:srgbClr val="6C7A89"/>
                </a:solidFill>
                <a:latin typeface="Calibri" pitchFamily="34" charset="0"/>
                <a:ea typeface="Calibri" pitchFamily="34" charset="-122"/>
                <a:cs typeface="Calibri" pitchFamily="34" charset="-120"/>
              </a:rPr>
              <a:t>VLM-CBM Dermatology  ·  Fitzpatrick Fairness Audit</a:t>
            </a:r>
            <a:endParaRPr lang="en-US" sz="900" dirty="0"/>
          </a:p>
        </p:txBody>
      </p:sp>
      <p:sp>
        <p:nvSpPr>
          <p:cNvPr id="6" name="Text 4"/>
          <p:cNvSpPr/>
          <p:nvPr/>
        </p:nvSpPr>
        <p:spPr>
          <a:xfrm>
            <a:off x="7863840" y="6528816"/>
            <a:ext cx="3200400" cy="237744"/>
          </a:xfrm>
          <a:prstGeom prst="rect">
            <a:avLst/>
          </a:prstGeom>
          <a:noFill/>
          <a:ln/>
        </p:spPr>
        <p:txBody>
          <a:bodyPr wrap="square" lIns="0" tIns="0" rIns="0" bIns="0" rtlCol="0" anchor="ctr"/>
          <a:lstStyle/>
          <a:p>
            <a:pPr marL="0" indent="0" algn="r">
              <a:buNone/>
            </a:pPr>
            <a:r>
              <a:rPr lang="en-US" sz="900" i="1" dirty="0">
                <a:solidFill>
                  <a:srgbClr val="6C7A89"/>
                </a:solidFill>
                <a:latin typeface="Calibri" pitchFamily="34" charset="0"/>
                <a:ea typeface="Calibri" pitchFamily="34" charset="-122"/>
                <a:cs typeface="Calibri" pitchFamily="34" charset="-120"/>
              </a:rPr>
              <a:t>Deepesh Khanna  ·  UT Austin</a:t>
            </a:r>
            <a:endParaRPr lang="en-US" sz="900" dirty="0"/>
          </a:p>
        </p:txBody>
      </p:sp>
      <p:sp>
        <p:nvSpPr>
          <p:cNvPr id="7" name="Text 5"/>
          <p:cNvSpPr/>
          <p:nvPr/>
        </p:nvSpPr>
        <p:spPr>
          <a:xfrm>
            <a:off x="11430000" y="6528816"/>
            <a:ext cx="274320" cy="237744"/>
          </a:xfrm>
          <a:prstGeom prst="rect">
            <a:avLst/>
          </a:prstGeom>
          <a:noFill/>
          <a:ln/>
        </p:spPr>
        <p:txBody>
          <a:bodyPr wrap="square" lIns="0" tIns="0" rIns="0" bIns="0" rtlCol="0" anchor="ctr"/>
          <a:lstStyle/>
          <a:p>
            <a:pPr marL="0" indent="0" algn="r">
              <a:buNone/>
            </a:pPr>
            <a:r>
              <a:rPr lang="en-US" sz="900" b="1" dirty="0">
                <a:solidFill>
                  <a:srgbClr val="BF5700"/>
                </a:solidFill>
                <a:latin typeface="Calibri" pitchFamily="34" charset="0"/>
                <a:ea typeface="Calibri" pitchFamily="34" charset="-122"/>
                <a:cs typeface="Calibri" pitchFamily="34" charset="-120"/>
              </a:rPr>
              <a:t>4</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273429320"/>
              </p:ext>
            </p:extLst>
          </p:nvPr>
        </p:nvGraphicFramePr>
        <p:xfrm>
          <a:off x="548640" y="1554480"/>
          <a:ext cx="11064240" cy="2971800"/>
        </p:xfrm>
        <a:graphic>
          <a:graphicData uri="http://schemas.openxmlformats.org/drawingml/2006/table">
            <a:tbl>
              <a:tblPr/>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45720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Dataset</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333F48"/>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Size</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333F48"/>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Role in the audit</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333F48"/>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Fitzpatrick coverage</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333F48"/>
                    </a:solidFill>
                  </a:tcPr>
                </a:tc>
                <a:extLst>
                  <a:ext uri="{0D108BD9-81ED-4DB2-BD59-A6C34878D82A}">
                    <a16:rowId xmlns:a16="http://schemas.microsoft.com/office/drawing/2014/main" val="10000"/>
                  </a:ext>
                </a:extLst>
              </a:tr>
              <a:tr h="548640">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HAM10000</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10,015</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Primary training for EfficientNet-B0 &amp; ResNet-50 baselines</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Unlabeled (assumed light-skin skew)</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Derm7pt</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1,011  (294 pos)</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CBM cross-validation + per-concept AUROC audit</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No Fitzpatrick labels</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DDI</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656  (171 pos)</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Fairness audit, expert-Fitzpatrick gold standard</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Light I-II · Medium III-IV · Dark V-VI</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3"/>
                  </a:ext>
                </a:extLst>
              </a:tr>
              <a:tr h="685800">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Fitzpatrick17k</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4,320 used</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Pooled with DDI for the fairness audit  (n = 4,976)</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Self-reported + ITA-corrected Fitz I-VI</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Shape 6"/>
          <p:cNvSpPr/>
          <p:nvPr/>
        </p:nvSpPr>
        <p:spPr>
          <a:xfrm>
            <a:off x="548640" y="4892040"/>
            <a:ext cx="11064240" cy="1371600"/>
          </a:xfrm>
          <a:prstGeom prst="rect">
            <a:avLst/>
          </a:prstGeom>
          <a:solidFill>
            <a:srgbClr val="FDF0E3"/>
          </a:solidFill>
          <a:ln/>
        </p:spPr>
        <p:txBody>
          <a:bodyPr/>
          <a:lstStyle/>
          <a:p>
            <a:endParaRPr lang="en-US"/>
          </a:p>
        </p:txBody>
      </p:sp>
      <p:sp>
        <p:nvSpPr>
          <p:cNvPr id="10" name="Shape 7"/>
          <p:cNvSpPr/>
          <p:nvPr/>
        </p:nvSpPr>
        <p:spPr>
          <a:xfrm>
            <a:off x="548640" y="4892040"/>
            <a:ext cx="73152" cy="1371600"/>
          </a:xfrm>
          <a:prstGeom prst="rect">
            <a:avLst/>
          </a:prstGeom>
          <a:solidFill>
            <a:srgbClr val="BF5700"/>
          </a:solidFill>
          <a:ln/>
        </p:spPr>
        <p:txBody>
          <a:bodyPr/>
          <a:lstStyle/>
          <a:p>
            <a:endParaRPr lang="en-US"/>
          </a:p>
        </p:txBody>
      </p:sp>
      <p:sp>
        <p:nvSpPr>
          <p:cNvPr id="11" name="Text 8"/>
          <p:cNvSpPr/>
          <p:nvPr/>
        </p:nvSpPr>
        <p:spPr>
          <a:xfrm>
            <a:off x="822960" y="4983480"/>
            <a:ext cx="10698480" cy="1188720"/>
          </a:xfrm>
          <a:prstGeom prst="rect">
            <a:avLst/>
          </a:prstGeom>
          <a:noFill/>
          <a:ln/>
        </p:spPr>
        <p:txBody>
          <a:bodyPr wrap="square" lIns="0" tIns="0" rIns="0" bIns="0" rtlCol="0" anchor="ctr"/>
          <a:lstStyle/>
          <a:p>
            <a:pPr marL="0" indent="0">
              <a:buNone/>
            </a:pPr>
            <a:r>
              <a:rPr lang="en-US" sz="1500" b="1" dirty="0">
                <a:solidFill>
                  <a:srgbClr val="333F48"/>
                </a:solidFill>
                <a:latin typeface="Georgia" pitchFamily="34" charset="0"/>
                <a:ea typeface="Georgia" pitchFamily="34" charset="-122"/>
                <a:cs typeface="Georgia" pitchFamily="34" charset="-120"/>
              </a:rPr>
              <a:t>Why the pooled cohort matters.  </a:t>
            </a:r>
            <a:r>
              <a:rPr lang="en-US" sz="1300" dirty="0">
                <a:solidFill>
                  <a:srgbClr val="1A1A1A"/>
                </a:solidFill>
                <a:latin typeface="Calibri" pitchFamily="34" charset="0"/>
                <a:ea typeface="Calibri" pitchFamily="34" charset="-122"/>
                <a:cs typeface="Calibri" pitchFamily="34" charset="-120"/>
              </a:rPr>
              <a:t>DDI alone gives a 100-sample dark-skin bucket; pooling Fitzpatrick17k lifts it to  </a:t>
            </a:r>
            <a:r>
              <a:rPr lang="en-US" sz="1300" b="1" dirty="0">
                <a:solidFill>
                  <a:srgbClr val="BF5700"/>
                </a:solidFill>
                <a:latin typeface="Calibri" pitchFamily="34" charset="0"/>
                <a:ea typeface="Calibri" pitchFamily="34" charset="-122"/>
                <a:cs typeface="Calibri" pitchFamily="34" charset="-120"/>
              </a:rPr>
              <a:t>n = 618</a:t>
            </a:r>
            <a:r>
              <a:rPr lang="en-US" sz="1300" dirty="0">
                <a:solidFill>
                  <a:srgbClr val="1A1A1A"/>
                </a:solidFill>
                <a:latin typeface="Calibri" pitchFamily="34" charset="0"/>
                <a:ea typeface="Calibri" pitchFamily="34" charset="-122"/>
                <a:cs typeface="Calibri" pitchFamily="34" charset="-120"/>
              </a:rPr>
              <a:t>  and stabilises every per-bucket metric. Bucket counts (light / medium / dark):  </a:t>
            </a:r>
            <a:r>
              <a:rPr lang="en-US" sz="1300" b="1" dirty="0">
                <a:solidFill>
                  <a:srgbClr val="BF5700"/>
                </a:solidFill>
                <a:latin typeface="Calibri" pitchFamily="34" charset="0"/>
                <a:ea typeface="Calibri" pitchFamily="34" charset="-122"/>
                <a:cs typeface="Calibri" pitchFamily="34" charset="-120"/>
              </a:rPr>
              <a:t>2,518 / 1,840 / 618.</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600" dirty="0">
                <a:solidFill>
                  <a:srgbClr val="BF5700"/>
                </a:solidFill>
                <a:latin typeface="Calibri" pitchFamily="34" charset="0"/>
                <a:ea typeface="Calibri" pitchFamily="34" charset="-122"/>
                <a:cs typeface="Calibri" pitchFamily="34" charset="-120"/>
              </a:rPr>
              <a:t>WORKED EXAMPLE</a:t>
            </a:r>
            <a:endParaRPr lang="en-US" sz="1100" dirty="0"/>
          </a:p>
        </p:txBody>
      </p:sp>
      <p:sp>
        <p:nvSpPr>
          <p:cNvPr id="3" name="Text 1"/>
          <p:cNvSpPr/>
          <p:nvPr/>
        </p:nvSpPr>
        <p:spPr>
          <a:xfrm>
            <a:off x="548640" y="713232"/>
            <a:ext cx="11155680" cy="594360"/>
          </a:xfrm>
          <a:prstGeom prst="rect">
            <a:avLst/>
          </a:prstGeom>
          <a:noFill/>
          <a:ln/>
        </p:spPr>
        <p:txBody>
          <a:bodyPr wrap="square" lIns="0" tIns="0" rIns="0" bIns="0" rtlCol="0" anchor="ctr"/>
          <a:lstStyle/>
          <a:p>
            <a:pPr marL="0" indent="0">
              <a:buNone/>
            </a:pPr>
            <a:r>
              <a:rPr lang="en-US" sz="2600" b="1" dirty="0">
                <a:solidFill>
                  <a:srgbClr val="333F48"/>
                </a:solidFill>
                <a:latin typeface="Georgia" pitchFamily="34" charset="0"/>
                <a:ea typeface="Georgia" pitchFamily="34" charset="-122"/>
                <a:cs typeface="Georgia" pitchFamily="34" charset="-120"/>
              </a:rPr>
              <a:t>How the CBM reads a dermoscopy image</a:t>
            </a:r>
            <a:endParaRPr lang="en-US" sz="2600" dirty="0"/>
          </a:p>
        </p:txBody>
      </p:sp>
      <p:sp>
        <p:nvSpPr>
          <p:cNvPr id="4" name="Shape 2"/>
          <p:cNvSpPr/>
          <p:nvPr/>
        </p:nvSpPr>
        <p:spPr>
          <a:xfrm>
            <a:off x="548640" y="6473952"/>
            <a:ext cx="11064240" cy="0"/>
          </a:xfrm>
          <a:prstGeom prst="line">
            <a:avLst/>
          </a:prstGeom>
          <a:noFill/>
          <a:ln w="9525">
            <a:solidFill>
              <a:srgbClr val="D9DEE3"/>
            </a:solidFill>
            <a:prstDash val="solid"/>
          </a:ln>
        </p:spPr>
        <p:txBody>
          <a:bodyPr/>
          <a:lstStyle/>
          <a:p>
            <a:endParaRPr lang="en-US"/>
          </a:p>
        </p:txBody>
      </p:sp>
      <p:sp>
        <p:nvSpPr>
          <p:cNvPr id="5" name="Text 3"/>
          <p:cNvSpPr/>
          <p:nvPr/>
        </p:nvSpPr>
        <p:spPr>
          <a:xfrm>
            <a:off x="548640" y="6528816"/>
            <a:ext cx="7315200" cy="237744"/>
          </a:xfrm>
          <a:prstGeom prst="rect">
            <a:avLst/>
          </a:prstGeom>
          <a:noFill/>
          <a:ln/>
        </p:spPr>
        <p:txBody>
          <a:bodyPr wrap="square" lIns="0" tIns="0" rIns="0" bIns="0" rtlCol="0" anchor="ctr"/>
          <a:lstStyle/>
          <a:p>
            <a:pPr marL="0" indent="0">
              <a:buNone/>
            </a:pPr>
            <a:r>
              <a:rPr lang="en-US" sz="900" i="1" dirty="0">
                <a:solidFill>
                  <a:srgbClr val="6C7A89"/>
                </a:solidFill>
                <a:latin typeface="Calibri" pitchFamily="34" charset="0"/>
                <a:ea typeface="Calibri" pitchFamily="34" charset="-122"/>
                <a:cs typeface="Calibri" pitchFamily="34" charset="-120"/>
              </a:rPr>
              <a:t>VLM-CBM Dermatology  ·  Fitzpatrick Fairness Audit</a:t>
            </a:r>
            <a:endParaRPr lang="en-US" sz="900" dirty="0"/>
          </a:p>
        </p:txBody>
      </p:sp>
      <p:sp>
        <p:nvSpPr>
          <p:cNvPr id="6" name="Text 4"/>
          <p:cNvSpPr/>
          <p:nvPr/>
        </p:nvSpPr>
        <p:spPr>
          <a:xfrm>
            <a:off x="7863840" y="6528816"/>
            <a:ext cx="3200400" cy="237744"/>
          </a:xfrm>
          <a:prstGeom prst="rect">
            <a:avLst/>
          </a:prstGeom>
          <a:noFill/>
          <a:ln/>
        </p:spPr>
        <p:txBody>
          <a:bodyPr wrap="square" lIns="0" tIns="0" rIns="0" bIns="0" rtlCol="0" anchor="ctr"/>
          <a:lstStyle/>
          <a:p>
            <a:pPr marL="0" indent="0" algn="r">
              <a:buNone/>
            </a:pPr>
            <a:r>
              <a:rPr lang="en-US" sz="900" i="1" dirty="0">
                <a:solidFill>
                  <a:srgbClr val="6C7A89"/>
                </a:solidFill>
                <a:latin typeface="Calibri" pitchFamily="34" charset="0"/>
                <a:ea typeface="Calibri" pitchFamily="34" charset="-122"/>
                <a:cs typeface="Calibri" pitchFamily="34" charset="-120"/>
              </a:rPr>
              <a:t>Deepesh Khanna  ·  UT Austin</a:t>
            </a:r>
            <a:endParaRPr lang="en-US" sz="900" dirty="0"/>
          </a:p>
        </p:txBody>
      </p:sp>
      <p:sp>
        <p:nvSpPr>
          <p:cNvPr id="7" name="Text 5"/>
          <p:cNvSpPr/>
          <p:nvPr/>
        </p:nvSpPr>
        <p:spPr>
          <a:xfrm>
            <a:off x="11430000" y="6528816"/>
            <a:ext cx="274320" cy="237744"/>
          </a:xfrm>
          <a:prstGeom prst="rect">
            <a:avLst/>
          </a:prstGeom>
          <a:noFill/>
          <a:ln/>
        </p:spPr>
        <p:txBody>
          <a:bodyPr wrap="square" lIns="0" tIns="0" rIns="0" bIns="0" rtlCol="0" anchor="ctr"/>
          <a:lstStyle/>
          <a:p>
            <a:pPr marL="0" indent="0" algn="r">
              <a:buNone/>
            </a:pPr>
            <a:r>
              <a:rPr lang="en-US" sz="900" b="1" dirty="0">
                <a:solidFill>
                  <a:srgbClr val="BF5700"/>
                </a:solidFill>
                <a:latin typeface="Calibri" pitchFamily="34" charset="0"/>
                <a:ea typeface="Calibri" pitchFamily="34" charset="-122"/>
                <a:cs typeface="Calibri" pitchFamily="34" charset="-120"/>
              </a:rPr>
              <a:t>5</a:t>
            </a:r>
            <a:endParaRPr lang="en-US" sz="900" dirty="0"/>
          </a:p>
        </p:txBody>
      </p:sp>
      <p:pic>
        <p:nvPicPr>
          <p:cNvPr id="8" name="Image 0" descr="/sessions/focused-elegant-hawking/mnt/AIH Final/vlm-cbm-derm-fairness/outputs/figures/fig_clinical_example.png"/>
          <p:cNvPicPr>
            <a:picLocks noChangeAspect="1"/>
          </p:cNvPicPr>
          <p:nvPr/>
        </p:nvPicPr>
        <p:blipFill>
          <a:blip r:embed="rId3"/>
          <a:srcRect/>
          <a:stretch/>
        </p:blipFill>
        <p:spPr>
          <a:xfrm>
            <a:off x="365760" y="1417320"/>
            <a:ext cx="11430000" cy="4389120"/>
          </a:xfrm>
          <a:prstGeom prst="rect">
            <a:avLst/>
          </a:prstGeom>
        </p:spPr>
      </p:pic>
      <p:sp>
        <p:nvSpPr>
          <p:cNvPr id="9" name="Shape 6"/>
          <p:cNvSpPr/>
          <p:nvPr/>
        </p:nvSpPr>
        <p:spPr>
          <a:xfrm>
            <a:off x="548640" y="5897880"/>
            <a:ext cx="11064240" cy="502920"/>
          </a:xfrm>
          <a:prstGeom prst="rect">
            <a:avLst/>
          </a:prstGeom>
          <a:solidFill>
            <a:srgbClr val="F8F3E6"/>
          </a:solidFill>
          <a:ln/>
        </p:spPr>
        <p:txBody>
          <a:bodyPr/>
          <a:lstStyle/>
          <a:p>
            <a:endParaRPr lang="en-US"/>
          </a:p>
        </p:txBody>
      </p:sp>
      <p:sp>
        <p:nvSpPr>
          <p:cNvPr id="10" name="Shape 7"/>
          <p:cNvSpPr/>
          <p:nvPr/>
        </p:nvSpPr>
        <p:spPr>
          <a:xfrm>
            <a:off x="548640" y="5897880"/>
            <a:ext cx="73152" cy="502920"/>
          </a:xfrm>
          <a:prstGeom prst="rect">
            <a:avLst/>
          </a:prstGeom>
          <a:solidFill>
            <a:srgbClr val="BF5700"/>
          </a:solidFill>
          <a:ln/>
        </p:spPr>
        <p:txBody>
          <a:bodyPr/>
          <a:lstStyle/>
          <a:p>
            <a:endParaRPr lang="en-US"/>
          </a:p>
        </p:txBody>
      </p:sp>
      <p:sp>
        <p:nvSpPr>
          <p:cNvPr id="11" name="Text 8"/>
          <p:cNvSpPr/>
          <p:nvPr/>
        </p:nvSpPr>
        <p:spPr>
          <a:xfrm>
            <a:off x="822960" y="5916168"/>
            <a:ext cx="10698480" cy="466344"/>
          </a:xfrm>
          <a:prstGeom prst="rect">
            <a:avLst/>
          </a:prstGeom>
          <a:noFill/>
          <a:ln/>
        </p:spPr>
        <p:txBody>
          <a:bodyPr wrap="square" lIns="0" tIns="0" rIns="0" bIns="0" rtlCol="0" anchor="ctr"/>
          <a:lstStyle/>
          <a:p>
            <a:pPr marL="0" indent="0">
              <a:buNone/>
            </a:pPr>
            <a:r>
              <a:rPr lang="en-US" sz="1300" b="1" dirty="0">
                <a:solidFill>
                  <a:srgbClr val="333F48"/>
                </a:solidFill>
                <a:latin typeface="Georgia" pitchFamily="34" charset="0"/>
                <a:ea typeface="Georgia" pitchFamily="34" charset="-122"/>
                <a:cs typeface="Georgia" pitchFamily="34" charset="-120"/>
              </a:rPr>
              <a:t>Read left-to-right.  </a:t>
            </a:r>
            <a:r>
              <a:rPr lang="en-US" sz="1250" dirty="0">
                <a:solidFill>
                  <a:srgbClr val="1A1A1A"/>
                </a:solidFill>
                <a:latin typeface="Calibri" pitchFamily="34" charset="0"/>
                <a:ea typeface="Calibri" pitchFamily="34" charset="-122"/>
                <a:cs typeface="Calibri" pitchFamily="34" charset="-120"/>
              </a:rPr>
              <a:t>For every image, BiomedCLIP emits a probability per concept; the sparse head fires only when the right ones light up.</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600" dirty="0">
                <a:solidFill>
                  <a:srgbClr val="BF5700"/>
                </a:solidFill>
                <a:latin typeface="Calibri" pitchFamily="34" charset="0"/>
                <a:ea typeface="Calibri" pitchFamily="34" charset="-122"/>
                <a:cs typeface="Calibri" pitchFamily="34" charset="-120"/>
              </a:rPr>
              <a:t>Q1  ·  ACCURACY</a:t>
            </a:r>
            <a:endParaRPr lang="en-US" sz="1100" dirty="0"/>
          </a:p>
        </p:txBody>
      </p:sp>
      <p:sp>
        <p:nvSpPr>
          <p:cNvPr id="3" name="Text 1"/>
          <p:cNvSpPr/>
          <p:nvPr/>
        </p:nvSpPr>
        <p:spPr>
          <a:xfrm>
            <a:off x="548640" y="713232"/>
            <a:ext cx="11155680" cy="594360"/>
          </a:xfrm>
          <a:prstGeom prst="rect">
            <a:avLst/>
          </a:prstGeom>
          <a:noFill/>
          <a:ln/>
        </p:spPr>
        <p:txBody>
          <a:bodyPr wrap="square" lIns="0" tIns="0" rIns="0" bIns="0" rtlCol="0" anchor="ctr"/>
          <a:lstStyle/>
          <a:p>
            <a:pPr marL="0" indent="0">
              <a:buNone/>
            </a:pPr>
            <a:r>
              <a:rPr lang="en-US" sz="2600" b="1" dirty="0">
                <a:solidFill>
                  <a:srgbClr val="333F48"/>
                </a:solidFill>
                <a:latin typeface="Georgia" pitchFamily="34" charset="0"/>
                <a:ea typeface="Georgia" pitchFamily="34" charset="-122"/>
                <a:cs typeface="Georgia" pitchFamily="34" charset="-120"/>
              </a:rPr>
              <a:t>A 3-concept head matches a 9-concept model and a deep MLP</a:t>
            </a:r>
            <a:endParaRPr lang="en-US" sz="2600" dirty="0"/>
          </a:p>
        </p:txBody>
      </p:sp>
      <p:sp>
        <p:nvSpPr>
          <p:cNvPr id="4" name="Shape 2"/>
          <p:cNvSpPr/>
          <p:nvPr/>
        </p:nvSpPr>
        <p:spPr>
          <a:xfrm>
            <a:off x="548640" y="6473952"/>
            <a:ext cx="11064240" cy="0"/>
          </a:xfrm>
          <a:prstGeom prst="line">
            <a:avLst/>
          </a:prstGeom>
          <a:noFill/>
          <a:ln w="9525">
            <a:solidFill>
              <a:srgbClr val="D9DEE3"/>
            </a:solidFill>
            <a:prstDash val="solid"/>
          </a:ln>
        </p:spPr>
        <p:txBody>
          <a:bodyPr/>
          <a:lstStyle/>
          <a:p>
            <a:endParaRPr lang="en-US"/>
          </a:p>
        </p:txBody>
      </p:sp>
      <p:sp>
        <p:nvSpPr>
          <p:cNvPr id="5" name="Text 3"/>
          <p:cNvSpPr/>
          <p:nvPr/>
        </p:nvSpPr>
        <p:spPr>
          <a:xfrm>
            <a:off x="548640" y="6528816"/>
            <a:ext cx="7315200" cy="237744"/>
          </a:xfrm>
          <a:prstGeom prst="rect">
            <a:avLst/>
          </a:prstGeom>
          <a:noFill/>
          <a:ln/>
        </p:spPr>
        <p:txBody>
          <a:bodyPr wrap="square" lIns="0" tIns="0" rIns="0" bIns="0" rtlCol="0" anchor="ctr"/>
          <a:lstStyle/>
          <a:p>
            <a:pPr marL="0" indent="0">
              <a:buNone/>
            </a:pPr>
            <a:r>
              <a:rPr lang="en-US" sz="900" i="1" dirty="0">
                <a:solidFill>
                  <a:srgbClr val="6C7A89"/>
                </a:solidFill>
                <a:latin typeface="Calibri" pitchFamily="34" charset="0"/>
                <a:ea typeface="Calibri" pitchFamily="34" charset="-122"/>
                <a:cs typeface="Calibri" pitchFamily="34" charset="-120"/>
              </a:rPr>
              <a:t>VLM-CBM Dermatology  ·  Fitzpatrick Fairness Audit</a:t>
            </a:r>
            <a:endParaRPr lang="en-US" sz="900" dirty="0"/>
          </a:p>
        </p:txBody>
      </p:sp>
      <p:sp>
        <p:nvSpPr>
          <p:cNvPr id="6" name="Text 4"/>
          <p:cNvSpPr/>
          <p:nvPr/>
        </p:nvSpPr>
        <p:spPr>
          <a:xfrm>
            <a:off x="7863840" y="6528816"/>
            <a:ext cx="3200400" cy="237744"/>
          </a:xfrm>
          <a:prstGeom prst="rect">
            <a:avLst/>
          </a:prstGeom>
          <a:noFill/>
          <a:ln/>
        </p:spPr>
        <p:txBody>
          <a:bodyPr wrap="square" lIns="0" tIns="0" rIns="0" bIns="0" rtlCol="0" anchor="ctr"/>
          <a:lstStyle/>
          <a:p>
            <a:pPr marL="0" indent="0" algn="r">
              <a:buNone/>
            </a:pPr>
            <a:r>
              <a:rPr lang="en-US" sz="900" i="1" dirty="0">
                <a:solidFill>
                  <a:srgbClr val="6C7A89"/>
                </a:solidFill>
                <a:latin typeface="Calibri" pitchFamily="34" charset="0"/>
                <a:ea typeface="Calibri" pitchFamily="34" charset="-122"/>
                <a:cs typeface="Calibri" pitchFamily="34" charset="-120"/>
              </a:rPr>
              <a:t>Deepesh Khanna  ·  UT Austin</a:t>
            </a:r>
            <a:endParaRPr lang="en-US" sz="900" dirty="0"/>
          </a:p>
        </p:txBody>
      </p:sp>
      <p:sp>
        <p:nvSpPr>
          <p:cNvPr id="7" name="Text 5"/>
          <p:cNvSpPr/>
          <p:nvPr/>
        </p:nvSpPr>
        <p:spPr>
          <a:xfrm>
            <a:off x="11430000" y="6528816"/>
            <a:ext cx="274320" cy="237744"/>
          </a:xfrm>
          <a:prstGeom prst="rect">
            <a:avLst/>
          </a:prstGeom>
          <a:noFill/>
          <a:ln/>
        </p:spPr>
        <p:txBody>
          <a:bodyPr wrap="square" lIns="0" tIns="0" rIns="0" bIns="0" rtlCol="0" anchor="ctr"/>
          <a:lstStyle/>
          <a:p>
            <a:pPr marL="0" indent="0" algn="r">
              <a:buNone/>
            </a:pPr>
            <a:r>
              <a:rPr lang="en-US" sz="900" b="1" dirty="0">
                <a:solidFill>
                  <a:srgbClr val="BF5700"/>
                </a:solidFill>
                <a:latin typeface="Calibri" pitchFamily="34" charset="0"/>
                <a:ea typeface="Calibri" pitchFamily="34" charset="-122"/>
                <a:cs typeface="Calibri" pitchFamily="34" charset="-120"/>
              </a:rPr>
              <a:t>6</a:t>
            </a:r>
            <a:endParaRPr lang="en-US" sz="900" dirty="0"/>
          </a:p>
        </p:txBody>
      </p:sp>
      <p:sp>
        <p:nvSpPr>
          <p:cNvPr id="8" name="Shape 6"/>
          <p:cNvSpPr/>
          <p:nvPr/>
        </p:nvSpPr>
        <p:spPr>
          <a:xfrm>
            <a:off x="548640" y="1508760"/>
            <a:ext cx="4754880" cy="4754880"/>
          </a:xfrm>
          <a:prstGeom prst="rect">
            <a:avLst/>
          </a:prstGeom>
          <a:solidFill>
            <a:srgbClr val="FDF0E3"/>
          </a:solidFill>
          <a:ln/>
        </p:spPr>
        <p:txBody>
          <a:bodyPr/>
          <a:lstStyle/>
          <a:p>
            <a:endParaRPr lang="en-US"/>
          </a:p>
        </p:txBody>
      </p:sp>
      <p:sp>
        <p:nvSpPr>
          <p:cNvPr id="9" name="Shape 7"/>
          <p:cNvSpPr/>
          <p:nvPr/>
        </p:nvSpPr>
        <p:spPr>
          <a:xfrm>
            <a:off x="548640" y="1508760"/>
            <a:ext cx="73152" cy="4754880"/>
          </a:xfrm>
          <a:prstGeom prst="rect">
            <a:avLst/>
          </a:prstGeom>
          <a:solidFill>
            <a:srgbClr val="BF5700"/>
          </a:solidFill>
          <a:ln/>
        </p:spPr>
        <p:txBody>
          <a:bodyPr/>
          <a:lstStyle/>
          <a:p>
            <a:endParaRPr lang="en-US"/>
          </a:p>
        </p:txBody>
      </p:sp>
      <p:sp>
        <p:nvSpPr>
          <p:cNvPr id="10" name="Text 8"/>
          <p:cNvSpPr/>
          <p:nvPr/>
        </p:nvSpPr>
        <p:spPr>
          <a:xfrm>
            <a:off x="685800" y="1737360"/>
            <a:ext cx="4572000" cy="2194560"/>
          </a:xfrm>
          <a:prstGeom prst="rect">
            <a:avLst/>
          </a:prstGeom>
          <a:noFill/>
          <a:ln/>
        </p:spPr>
        <p:txBody>
          <a:bodyPr wrap="square" lIns="0" tIns="0" rIns="0" bIns="0" rtlCol="0" anchor="ctr"/>
          <a:lstStyle/>
          <a:p>
            <a:pPr marL="0" indent="0" algn="ctr">
              <a:buNone/>
            </a:pPr>
            <a:r>
              <a:rPr lang="en-US" sz="14000" b="1" dirty="0">
                <a:solidFill>
                  <a:srgbClr val="BF5700"/>
                </a:solidFill>
                <a:latin typeface="Georgia" pitchFamily="34" charset="0"/>
                <a:ea typeface="Georgia" pitchFamily="34" charset="-122"/>
                <a:cs typeface="Georgia" pitchFamily="34" charset="-120"/>
              </a:rPr>
              <a:t>0.79</a:t>
            </a:r>
            <a:endParaRPr lang="en-US" sz="14000" dirty="0"/>
          </a:p>
        </p:txBody>
      </p:sp>
      <p:sp>
        <p:nvSpPr>
          <p:cNvPr id="11" name="Text 9"/>
          <p:cNvSpPr/>
          <p:nvPr/>
        </p:nvSpPr>
        <p:spPr>
          <a:xfrm>
            <a:off x="685800" y="3886200"/>
            <a:ext cx="4572000" cy="365760"/>
          </a:xfrm>
          <a:prstGeom prst="rect">
            <a:avLst/>
          </a:prstGeom>
          <a:noFill/>
          <a:ln/>
        </p:spPr>
        <p:txBody>
          <a:bodyPr wrap="square" lIns="0" tIns="0" rIns="0" bIns="0" rtlCol="0" anchor="ctr"/>
          <a:lstStyle/>
          <a:p>
            <a:pPr marL="0" indent="0" algn="ctr">
              <a:buNone/>
            </a:pPr>
            <a:r>
              <a:rPr lang="en-US" sz="1600" b="1" kern="0" spc="600" dirty="0">
                <a:solidFill>
                  <a:srgbClr val="333F48"/>
                </a:solidFill>
                <a:latin typeface="Calibri" pitchFamily="34" charset="0"/>
                <a:ea typeface="Calibri" pitchFamily="34" charset="-122"/>
                <a:cs typeface="Calibri" pitchFamily="34" charset="-120"/>
              </a:rPr>
              <a:t>AUROC</a:t>
            </a:r>
            <a:endParaRPr lang="en-US" sz="1600" dirty="0"/>
          </a:p>
        </p:txBody>
      </p:sp>
      <p:sp>
        <p:nvSpPr>
          <p:cNvPr id="12" name="Text 10"/>
          <p:cNvSpPr/>
          <p:nvPr/>
        </p:nvSpPr>
        <p:spPr>
          <a:xfrm>
            <a:off x="685800" y="4251960"/>
            <a:ext cx="4572000" cy="320040"/>
          </a:xfrm>
          <a:prstGeom prst="rect">
            <a:avLst/>
          </a:prstGeom>
          <a:noFill/>
          <a:ln/>
        </p:spPr>
        <p:txBody>
          <a:bodyPr wrap="square" lIns="0" tIns="0" rIns="0" bIns="0" rtlCol="0" anchor="ctr"/>
          <a:lstStyle/>
          <a:p>
            <a:pPr marL="0" indent="0" algn="ctr">
              <a:buNone/>
            </a:pPr>
            <a:r>
              <a:rPr lang="en-US" sz="1200" i="1" dirty="0">
                <a:solidFill>
                  <a:srgbClr val="6C7A89"/>
                </a:solidFill>
                <a:latin typeface="Calibri" pitchFamily="34" charset="0"/>
                <a:ea typeface="Calibri" pitchFamily="34" charset="-122"/>
                <a:cs typeface="Calibri" pitchFamily="34" charset="-120"/>
              </a:rPr>
              <a:t>5-fold CV on Derm7pt  ·  ± 0.03</a:t>
            </a:r>
            <a:endParaRPr lang="en-US" sz="1200" dirty="0"/>
          </a:p>
        </p:txBody>
      </p:sp>
      <p:sp>
        <p:nvSpPr>
          <p:cNvPr id="13" name="Shape 11"/>
          <p:cNvSpPr/>
          <p:nvPr/>
        </p:nvSpPr>
        <p:spPr>
          <a:xfrm>
            <a:off x="914400" y="4754880"/>
            <a:ext cx="4114800" cy="0"/>
          </a:xfrm>
          <a:prstGeom prst="line">
            <a:avLst/>
          </a:prstGeom>
          <a:noFill/>
          <a:ln w="9525">
            <a:solidFill>
              <a:srgbClr val="D9DEE3"/>
            </a:solidFill>
            <a:prstDash val="solid"/>
          </a:ln>
        </p:spPr>
        <p:txBody>
          <a:bodyPr/>
          <a:lstStyle/>
          <a:p>
            <a:endParaRPr lang="en-US"/>
          </a:p>
        </p:txBody>
      </p:sp>
      <p:sp>
        <p:nvSpPr>
          <p:cNvPr id="14" name="Text 12"/>
          <p:cNvSpPr/>
          <p:nvPr/>
        </p:nvSpPr>
        <p:spPr>
          <a:xfrm>
            <a:off x="822960" y="4892040"/>
            <a:ext cx="4297680" cy="1280160"/>
          </a:xfrm>
          <a:prstGeom prst="rect">
            <a:avLst/>
          </a:prstGeom>
          <a:noFill/>
          <a:ln/>
        </p:spPr>
        <p:txBody>
          <a:bodyPr wrap="square" lIns="0" tIns="0" rIns="0" bIns="0" rtlCol="0" anchor="t"/>
          <a:lstStyle/>
          <a:p>
            <a:pPr marL="0" indent="0">
              <a:spcAft>
                <a:spcPts val="600"/>
              </a:spcAft>
              <a:buNone/>
            </a:pPr>
            <a:r>
              <a:rPr lang="en-US" sz="1200" dirty="0">
                <a:solidFill>
                  <a:srgbClr val="1A1A1A"/>
                </a:solidFill>
                <a:latin typeface="Calibri" pitchFamily="34" charset="0"/>
                <a:ea typeface="Calibri" pitchFamily="34" charset="-122"/>
                <a:cs typeface="Calibri" pitchFamily="34" charset="-120"/>
              </a:rPr>
              <a:t>CBM-MLP head  </a:t>
            </a:r>
            <a:r>
              <a:rPr lang="en-US" sz="1400" b="1" dirty="0">
                <a:solidFill>
                  <a:srgbClr val="333F48"/>
                </a:solidFill>
                <a:latin typeface="Georgia" pitchFamily="34" charset="0"/>
                <a:ea typeface="Georgia" pitchFamily="34" charset="-122"/>
                <a:cs typeface="Georgia" pitchFamily="34" charset="-120"/>
              </a:rPr>
              <a:t>0.79</a:t>
            </a:r>
            <a:r>
              <a:rPr lang="en-US" sz="1100" i="1" dirty="0">
                <a:solidFill>
                  <a:srgbClr val="6C7A89"/>
                </a:solidFill>
                <a:latin typeface="Calibri" pitchFamily="34" charset="0"/>
                <a:ea typeface="Calibri" pitchFamily="34" charset="-122"/>
                <a:cs typeface="Calibri" pitchFamily="34" charset="-120"/>
              </a:rPr>
              <a:t>  —&gt; statistically indistinguishable</a:t>
            </a:r>
            <a:endParaRPr lang="en-US" sz="1200" dirty="0"/>
          </a:p>
          <a:p>
            <a:pPr marL="0" indent="0">
              <a:spcAft>
                <a:spcPts val="600"/>
              </a:spcAft>
              <a:buNone/>
            </a:pPr>
            <a:r>
              <a:rPr lang="en-US" sz="600" dirty="0">
                <a:solidFill>
                  <a:srgbClr val="000000"/>
                </a:solidFill>
              </a:rPr>
              <a:t> </a:t>
            </a:r>
            <a:endParaRPr lang="en-US" sz="1200" dirty="0"/>
          </a:p>
          <a:p>
            <a:pPr marL="0" indent="0">
              <a:spcAft>
                <a:spcPts val="600"/>
              </a:spcAft>
              <a:buNone/>
            </a:pPr>
            <a:r>
              <a:rPr lang="en-US" sz="1200" dirty="0">
                <a:solidFill>
                  <a:srgbClr val="1A1A1A"/>
                </a:solidFill>
                <a:latin typeface="Calibri" pitchFamily="34" charset="0"/>
                <a:ea typeface="Calibri" pitchFamily="34" charset="-122"/>
                <a:cs typeface="Calibri" pitchFamily="34" charset="-120"/>
              </a:rPr>
              <a:t>Top-3 concepts only  </a:t>
            </a:r>
            <a:r>
              <a:rPr lang="en-US" sz="1400" b="1" dirty="0">
                <a:solidFill>
                  <a:srgbClr val="BF5700"/>
                </a:solidFill>
                <a:latin typeface="Georgia" pitchFamily="34" charset="0"/>
                <a:ea typeface="Georgia" pitchFamily="34" charset="-122"/>
                <a:cs typeface="Georgia" pitchFamily="34" charset="-120"/>
              </a:rPr>
              <a:t>0.785</a:t>
            </a:r>
            <a:r>
              <a:rPr lang="en-US" sz="1100" i="1" dirty="0">
                <a:solidFill>
                  <a:srgbClr val="6C7A89"/>
                </a:solidFill>
                <a:latin typeface="Calibri" pitchFamily="34" charset="0"/>
                <a:ea typeface="Calibri" pitchFamily="34" charset="-122"/>
                <a:cs typeface="Calibri" pitchFamily="34" charset="-120"/>
              </a:rPr>
              <a:t>  —&gt; within 0.01 of the full 9</a:t>
            </a:r>
            <a:endParaRPr lang="en-US" sz="1200" dirty="0"/>
          </a:p>
        </p:txBody>
      </p:sp>
      <p:sp>
        <p:nvSpPr>
          <p:cNvPr id="15" name="Text 13"/>
          <p:cNvSpPr/>
          <p:nvPr/>
        </p:nvSpPr>
        <p:spPr>
          <a:xfrm>
            <a:off x="5577840" y="1508760"/>
            <a:ext cx="6217920" cy="365760"/>
          </a:xfrm>
          <a:prstGeom prst="rect">
            <a:avLst/>
          </a:prstGeom>
          <a:noFill/>
          <a:ln/>
        </p:spPr>
        <p:txBody>
          <a:bodyPr wrap="square" lIns="0" tIns="0" rIns="0" bIns="0" rtlCol="0" anchor="ctr"/>
          <a:lstStyle/>
          <a:p>
            <a:pPr marL="0" indent="0">
              <a:buNone/>
            </a:pPr>
            <a:r>
              <a:rPr lang="en-US" sz="1600" b="1" dirty="0">
                <a:solidFill>
                  <a:srgbClr val="333F48"/>
                </a:solidFill>
                <a:latin typeface="Georgia" pitchFamily="34" charset="0"/>
                <a:ea typeface="Georgia" pitchFamily="34" charset="-122"/>
                <a:cs typeface="Georgia" pitchFamily="34" charset="-120"/>
              </a:rPr>
              <a:t>Concept-count ablation</a:t>
            </a:r>
            <a:endParaRPr lang="en-US" sz="1600" dirty="0"/>
          </a:p>
        </p:txBody>
      </p:sp>
      <p:pic>
        <p:nvPicPr>
          <p:cNvPr id="16" name="Image 0" descr="/sessions/focused-elegant-hawking/mnt/AIH Final/vlm-cbm-derm-fairness/outputs/figures/fig6_ablation_concept_count.png"/>
          <p:cNvPicPr>
            <a:picLocks noChangeAspect="1"/>
          </p:cNvPicPr>
          <p:nvPr/>
        </p:nvPicPr>
        <p:blipFill>
          <a:blip r:embed="rId3"/>
          <a:srcRect/>
          <a:stretch/>
        </p:blipFill>
        <p:spPr>
          <a:xfrm>
            <a:off x="5577840" y="1874520"/>
            <a:ext cx="6217920" cy="3566160"/>
          </a:xfrm>
          <a:prstGeom prst="rect">
            <a:avLst/>
          </a:prstGeom>
        </p:spPr>
      </p:pic>
      <p:sp>
        <p:nvSpPr>
          <p:cNvPr id="17" name="Shape 14"/>
          <p:cNvSpPr/>
          <p:nvPr/>
        </p:nvSpPr>
        <p:spPr>
          <a:xfrm>
            <a:off x="5577840" y="5532120"/>
            <a:ext cx="6217920" cy="731520"/>
          </a:xfrm>
          <a:prstGeom prst="rect">
            <a:avLst/>
          </a:prstGeom>
          <a:solidFill>
            <a:srgbClr val="333F48"/>
          </a:solidFill>
          <a:ln/>
        </p:spPr>
        <p:txBody>
          <a:bodyPr/>
          <a:lstStyle/>
          <a:p>
            <a:endParaRPr lang="en-US"/>
          </a:p>
        </p:txBody>
      </p:sp>
      <p:sp>
        <p:nvSpPr>
          <p:cNvPr id="18" name="Text 15"/>
          <p:cNvSpPr/>
          <p:nvPr/>
        </p:nvSpPr>
        <p:spPr>
          <a:xfrm>
            <a:off x="5760720" y="5559552"/>
            <a:ext cx="5852160" cy="676656"/>
          </a:xfrm>
          <a:prstGeom prst="rect">
            <a:avLst/>
          </a:prstGeom>
          <a:noFill/>
          <a:ln/>
        </p:spPr>
        <p:txBody>
          <a:bodyPr wrap="square" lIns="0" tIns="0" rIns="0" bIns="0" rtlCol="0" anchor="ctr"/>
          <a:lstStyle/>
          <a:p>
            <a:pPr marL="0" indent="0">
              <a:buNone/>
            </a:pPr>
            <a:r>
              <a:rPr lang="en-US" sz="1300" b="1" dirty="0">
                <a:solidFill>
                  <a:srgbClr val="E87722"/>
                </a:solidFill>
                <a:latin typeface="Georgia" pitchFamily="34" charset="0"/>
                <a:ea typeface="Georgia" pitchFamily="34" charset="-122"/>
                <a:cs typeface="Georgia" pitchFamily="34" charset="-120"/>
              </a:rPr>
              <a:t>Takeaway.  </a:t>
            </a:r>
            <a:r>
              <a:rPr lang="en-US" sz="1300" dirty="0">
                <a:solidFill>
                  <a:srgbClr val="FFFFFF"/>
                </a:solidFill>
                <a:latin typeface="Calibri" pitchFamily="34" charset="0"/>
                <a:ea typeface="Calibri" pitchFamily="34" charset="-122"/>
                <a:cs typeface="Calibri" pitchFamily="34" charset="-120"/>
              </a:rPr>
              <a:t>Three concepts saturate the head and this is the lever Q3 pulls 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600" dirty="0">
                <a:solidFill>
                  <a:srgbClr val="BF5700"/>
                </a:solidFill>
                <a:latin typeface="Calibri" pitchFamily="34" charset="0"/>
                <a:ea typeface="Calibri" pitchFamily="34" charset="-122"/>
                <a:cs typeface="Calibri" pitchFamily="34" charset="-120"/>
              </a:rPr>
              <a:t>Q2  ·  THE FAIRNESS TWIST</a:t>
            </a:r>
            <a:endParaRPr lang="en-US" sz="1100" dirty="0"/>
          </a:p>
        </p:txBody>
      </p:sp>
      <p:sp>
        <p:nvSpPr>
          <p:cNvPr id="3" name="Text 1"/>
          <p:cNvSpPr/>
          <p:nvPr/>
        </p:nvSpPr>
        <p:spPr>
          <a:xfrm>
            <a:off x="548640" y="713232"/>
            <a:ext cx="11155680" cy="594360"/>
          </a:xfrm>
          <a:prstGeom prst="rect">
            <a:avLst/>
          </a:prstGeom>
          <a:noFill/>
          <a:ln/>
        </p:spPr>
        <p:txBody>
          <a:bodyPr wrap="square" lIns="0" tIns="0" rIns="0" bIns="0" rtlCol="0" anchor="ctr"/>
          <a:lstStyle/>
          <a:p>
            <a:pPr marL="0" indent="0">
              <a:buNone/>
            </a:pPr>
            <a:r>
              <a:rPr lang="en-US" sz="2600" b="1" dirty="0">
                <a:solidFill>
                  <a:srgbClr val="333F48"/>
                </a:solidFill>
                <a:latin typeface="Georgia" pitchFamily="34" charset="0"/>
                <a:ea typeface="Georgia" pitchFamily="34" charset="-122"/>
                <a:cs typeface="Georgia" pitchFamily="34" charset="-120"/>
              </a:rPr>
              <a:t>AUROC parity is not fairness</a:t>
            </a:r>
            <a:endParaRPr lang="en-US" sz="2600" dirty="0"/>
          </a:p>
        </p:txBody>
      </p:sp>
      <p:sp>
        <p:nvSpPr>
          <p:cNvPr id="4" name="Shape 2"/>
          <p:cNvSpPr/>
          <p:nvPr/>
        </p:nvSpPr>
        <p:spPr>
          <a:xfrm>
            <a:off x="548640" y="6473952"/>
            <a:ext cx="11064240" cy="0"/>
          </a:xfrm>
          <a:prstGeom prst="line">
            <a:avLst/>
          </a:prstGeom>
          <a:noFill/>
          <a:ln w="9525">
            <a:solidFill>
              <a:srgbClr val="D9DEE3"/>
            </a:solidFill>
            <a:prstDash val="solid"/>
          </a:ln>
        </p:spPr>
        <p:txBody>
          <a:bodyPr/>
          <a:lstStyle/>
          <a:p>
            <a:endParaRPr lang="en-US"/>
          </a:p>
        </p:txBody>
      </p:sp>
      <p:sp>
        <p:nvSpPr>
          <p:cNvPr id="5" name="Text 3"/>
          <p:cNvSpPr/>
          <p:nvPr/>
        </p:nvSpPr>
        <p:spPr>
          <a:xfrm>
            <a:off x="548640" y="6528816"/>
            <a:ext cx="7315200" cy="237744"/>
          </a:xfrm>
          <a:prstGeom prst="rect">
            <a:avLst/>
          </a:prstGeom>
          <a:noFill/>
          <a:ln/>
        </p:spPr>
        <p:txBody>
          <a:bodyPr wrap="square" lIns="0" tIns="0" rIns="0" bIns="0" rtlCol="0" anchor="ctr"/>
          <a:lstStyle/>
          <a:p>
            <a:pPr marL="0" indent="0">
              <a:buNone/>
            </a:pPr>
            <a:r>
              <a:rPr lang="en-US" sz="900" i="1" dirty="0">
                <a:solidFill>
                  <a:srgbClr val="6C7A89"/>
                </a:solidFill>
                <a:latin typeface="Calibri" pitchFamily="34" charset="0"/>
                <a:ea typeface="Calibri" pitchFamily="34" charset="-122"/>
                <a:cs typeface="Calibri" pitchFamily="34" charset="-120"/>
              </a:rPr>
              <a:t>VLM-CBM Dermatology  ·  Fitzpatrick Fairness Audit</a:t>
            </a:r>
            <a:endParaRPr lang="en-US" sz="900" dirty="0"/>
          </a:p>
        </p:txBody>
      </p:sp>
      <p:sp>
        <p:nvSpPr>
          <p:cNvPr id="6" name="Text 4"/>
          <p:cNvSpPr/>
          <p:nvPr/>
        </p:nvSpPr>
        <p:spPr>
          <a:xfrm>
            <a:off x="7863840" y="6528816"/>
            <a:ext cx="3200400" cy="237744"/>
          </a:xfrm>
          <a:prstGeom prst="rect">
            <a:avLst/>
          </a:prstGeom>
          <a:noFill/>
          <a:ln/>
        </p:spPr>
        <p:txBody>
          <a:bodyPr wrap="square" lIns="0" tIns="0" rIns="0" bIns="0" rtlCol="0" anchor="ctr"/>
          <a:lstStyle/>
          <a:p>
            <a:pPr marL="0" indent="0" algn="r">
              <a:buNone/>
            </a:pPr>
            <a:r>
              <a:rPr lang="en-US" sz="900" i="1" dirty="0">
                <a:solidFill>
                  <a:srgbClr val="6C7A89"/>
                </a:solidFill>
                <a:latin typeface="Calibri" pitchFamily="34" charset="0"/>
                <a:ea typeface="Calibri" pitchFamily="34" charset="-122"/>
                <a:cs typeface="Calibri" pitchFamily="34" charset="-120"/>
              </a:rPr>
              <a:t>Deepesh Khanna  ·  UT Austin</a:t>
            </a:r>
            <a:endParaRPr lang="en-US" sz="900" dirty="0"/>
          </a:p>
        </p:txBody>
      </p:sp>
      <p:sp>
        <p:nvSpPr>
          <p:cNvPr id="7" name="Text 5"/>
          <p:cNvSpPr/>
          <p:nvPr/>
        </p:nvSpPr>
        <p:spPr>
          <a:xfrm>
            <a:off x="11430000" y="6528816"/>
            <a:ext cx="274320" cy="237744"/>
          </a:xfrm>
          <a:prstGeom prst="rect">
            <a:avLst/>
          </a:prstGeom>
          <a:noFill/>
          <a:ln/>
        </p:spPr>
        <p:txBody>
          <a:bodyPr wrap="square" lIns="0" tIns="0" rIns="0" bIns="0" rtlCol="0" anchor="ctr"/>
          <a:lstStyle/>
          <a:p>
            <a:pPr marL="0" indent="0" algn="r">
              <a:buNone/>
            </a:pPr>
            <a:r>
              <a:rPr lang="en-US" sz="900" b="1" dirty="0">
                <a:solidFill>
                  <a:srgbClr val="BF5700"/>
                </a:solidFill>
                <a:latin typeface="Calibri" pitchFamily="34" charset="0"/>
                <a:ea typeface="Calibri" pitchFamily="34" charset="-122"/>
                <a:cs typeface="Calibri" pitchFamily="34" charset="-120"/>
              </a:rPr>
              <a:t>7</a:t>
            </a:r>
            <a:endParaRPr lang="en-US" sz="900" dirty="0"/>
          </a:p>
        </p:txBody>
      </p:sp>
      <p:sp>
        <p:nvSpPr>
          <p:cNvPr id="8" name="Shape 6"/>
          <p:cNvSpPr/>
          <p:nvPr/>
        </p:nvSpPr>
        <p:spPr>
          <a:xfrm>
            <a:off x="548640" y="1508760"/>
            <a:ext cx="5486400" cy="4754880"/>
          </a:xfrm>
          <a:prstGeom prst="rect">
            <a:avLst/>
          </a:prstGeom>
          <a:solidFill>
            <a:srgbClr val="FFFFFF"/>
          </a:solidFill>
          <a:ln w="9525">
            <a:solidFill>
              <a:srgbClr val="D9DEE3"/>
            </a:solidFill>
            <a:prstDash val="solid"/>
          </a:ln>
        </p:spPr>
        <p:txBody>
          <a:bodyPr/>
          <a:lstStyle/>
          <a:p>
            <a:endParaRPr lang="en-US"/>
          </a:p>
        </p:txBody>
      </p:sp>
      <p:sp>
        <p:nvSpPr>
          <p:cNvPr id="9" name="Text 7"/>
          <p:cNvSpPr/>
          <p:nvPr/>
        </p:nvSpPr>
        <p:spPr>
          <a:xfrm>
            <a:off x="685800" y="1600200"/>
            <a:ext cx="5212080" cy="274320"/>
          </a:xfrm>
          <a:prstGeom prst="rect">
            <a:avLst/>
          </a:prstGeom>
          <a:noFill/>
          <a:ln/>
        </p:spPr>
        <p:txBody>
          <a:bodyPr wrap="square" lIns="0" tIns="0" rIns="0" bIns="0" rtlCol="0" anchor="ctr"/>
          <a:lstStyle/>
          <a:p>
            <a:pPr marL="0" indent="0">
              <a:buNone/>
            </a:pPr>
            <a:r>
              <a:rPr lang="en-US" sz="1000" b="1" kern="0" spc="600" dirty="0">
                <a:solidFill>
                  <a:srgbClr val="6C7A89"/>
                </a:solidFill>
                <a:latin typeface="Calibri" pitchFamily="34" charset="0"/>
                <a:ea typeface="Calibri" pitchFamily="34" charset="-122"/>
                <a:cs typeface="Calibri" pitchFamily="34" charset="-120"/>
              </a:rPr>
              <a:t>AT FIRST GLANCE</a:t>
            </a:r>
            <a:endParaRPr lang="en-US" sz="1000" dirty="0"/>
          </a:p>
        </p:txBody>
      </p:sp>
      <p:sp>
        <p:nvSpPr>
          <p:cNvPr id="10" name="Text 8"/>
          <p:cNvSpPr/>
          <p:nvPr/>
        </p:nvSpPr>
        <p:spPr>
          <a:xfrm>
            <a:off x="685800" y="1874520"/>
            <a:ext cx="5212080" cy="365760"/>
          </a:xfrm>
          <a:prstGeom prst="rect">
            <a:avLst/>
          </a:prstGeom>
          <a:noFill/>
          <a:ln/>
        </p:spPr>
        <p:txBody>
          <a:bodyPr wrap="square" lIns="0" tIns="0" rIns="0" bIns="0" rtlCol="0" anchor="ctr"/>
          <a:lstStyle/>
          <a:p>
            <a:pPr marL="0" indent="0">
              <a:buNone/>
            </a:pPr>
            <a:r>
              <a:rPr lang="en-US" sz="1700" b="1" dirty="0">
                <a:solidFill>
                  <a:srgbClr val="333F48"/>
                </a:solidFill>
                <a:latin typeface="Georgia" pitchFamily="34" charset="0"/>
                <a:ea typeface="Georgia" pitchFamily="34" charset="-122"/>
                <a:cs typeface="Georgia" pitchFamily="34" charset="-120"/>
              </a:rPr>
              <a:t>AUROC looks flat across skin tones</a:t>
            </a:r>
            <a:endParaRPr lang="en-US" sz="1700" dirty="0"/>
          </a:p>
        </p:txBody>
      </p:sp>
      <p:pic>
        <p:nvPicPr>
          <p:cNvPr id="11" name="Image 0" descr="/sessions/focused-elegant-hawking/mnt/AIH Final/vlm-cbm-derm-fairness/outputs/figures/fig3_per_bucket_auroc.png"/>
          <p:cNvPicPr>
            <a:picLocks noChangeAspect="1"/>
          </p:cNvPicPr>
          <p:nvPr/>
        </p:nvPicPr>
        <p:blipFill>
          <a:blip r:embed="rId3"/>
          <a:srcRect/>
          <a:stretch/>
        </p:blipFill>
        <p:spPr>
          <a:xfrm>
            <a:off x="685800" y="2286000"/>
            <a:ext cx="5212080" cy="3291840"/>
          </a:xfrm>
          <a:prstGeom prst="rect">
            <a:avLst/>
          </a:prstGeom>
        </p:spPr>
      </p:pic>
      <p:sp>
        <p:nvSpPr>
          <p:cNvPr id="12" name="Shape 9"/>
          <p:cNvSpPr/>
          <p:nvPr/>
        </p:nvSpPr>
        <p:spPr>
          <a:xfrm>
            <a:off x="685800" y="5669280"/>
            <a:ext cx="5212080" cy="502920"/>
          </a:xfrm>
          <a:prstGeom prst="rect">
            <a:avLst/>
          </a:prstGeom>
          <a:solidFill>
            <a:srgbClr val="F8F3E6"/>
          </a:solidFill>
          <a:ln/>
        </p:spPr>
        <p:txBody>
          <a:bodyPr/>
          <a:lstStyle/>
          <a:p>
            <a:endParaRPr lang="en-US"/>
          </a:p>
        </p:txBody>
      </p:sp>
      <p:sp>
        <p:nvSpPr>
          <p:cNvPr id="13" name="Text 10"/>
          <p:cNvSpPr/>
          <p:nvPr/>
        </p:nvSpPr>
        <p:spPr>
          <a:xfrm>
            <a:off x="822960" y="5687568"/>
            <a:ext cx="4937760" cy="466344"/>
          </a:xfrm>
          <a:prstGeom prst="rect">
            <a:avLst/>
          </a:prstGeom>
          <a:noFill/>
          <a:ln/>
        </p:spPr>
        <p:txBody>
          <a:bodyPr wrap="square" lIns="0" tIns="0" rIns="0" bIns="0" rtlCol="0" anchor="ctr"/>
          <a:lstStyle/>
          <a:p>
            <a:pPr marL="0" indent="0">
              <a:buNone/>
            </a:pPr>
            <a:r>
              <a:rPr lang="en-US" sz="1200" dirty="0">
                <a:solidFill>
                  <a:srgbClr val="6C7A89"/>
                </a:solidFill>
                <a:latin typeface="Calibri" pitchFamily="34" charset="0"/>
                <a:ea typeface="Calibri" pitchFamily="34" charset="-122"/>
                <a:cs typeface="Calibri" pitchFamily="34" charset="-120"/>
              </a:rPr>
              <a:t>CBM-LR  </a:t>
            </a:r>
            <a:r>
              <a:rPr lang="en-US" sz="1400" b="1" dirty="0">
                <a:solidFill>
                  <a:srgbClr val="333F48"/>
                </a:solidFill>
                <a:latin typeface="Georgia" pitchFamily="34" charset="0"/>
                <a:ea typeface="Georgia" pitchFamily="34" charset="-122"/>
                <a:cs typeface="Georgia" pitchFamily="34" charset="-120"/>
              </a:rPr>
              <a:t>0.67 / 0.66 / 0.67</a:t>
            </a:r>
            <a:r>
              <a:rPr lang="en-US" sz="1100" i="1" dirty="0">
                <a:solidFill>
                  <a:srgbClr val="6C7A89"/>
                </a:solidFill>
                <a:latin typeface="Calibri" pitchFamily="34" charset="0"/>
                <a:ea typeface="Calibri" pitchFamily="34" charset="-122"/>
                <a:cs typeface="Calibri" pitchFamily="34" charset="-120"/>
              </a:rPr>
              <a:t>  AUROC   light / medium / dark</a:t>
            </a:r>
            <a:endParaRPr lang="en-US" sz="1200" dirty="0"/>
          </a:p>
        </p:txBody>
      </p:sp>
      <p:sp>
        <p:nvSpPr>
          <p:cNvPr id="14" name="Shape 11"/>
          <p:cNvSpPr/>
          <p:nvPr/>
        </p:nvSpPr>
        <p:spPr>
          <a:xfrm>
            <a:off x="6309360" y="1508760"/>
            <a:ext cx="5486400" cy="4754880"/>
          </a:xfrm>
          <a:prstGeom prst="rect">
            <a:avLst/>
          </a:prstGeom>
          <a:solidFill>
            <a:srgbClr val="FDF0E3"/>
          </a:solidFill>
          <a:ln/>
        </p:spPr>
        <p:txBody>
          <a:bodyPr/>
          <a:lstStyle/>
          <a:p>
            <a:endParaRPr lang="en-US"/>
          </a:p>
        </p:txBody>
      </p:sp>
      <p:sp>
        <p:nvSpPr>
          <p:cNvPr id="15" name="Shape 12"/>
          <p:cNvSpPr/>
          <p:nvPr/>
        </p:nvSpPr>
        <p:spPr>
          <a:xfrm>
            <a:off x="6309360" y="1508760"/>
            <a:ext cx="73152" cy="4754880"/>
          </a:xfrm>
          <a:prstGeom prst="rect">
            <a:avLst/>
          </a:prstGeom>
          <a:solidFill>
            <a:srgbClr val="BF5700"/>
          </a:solidFill>
          <a:ln/>
        </p:spPr>
        <p:txBody>
          <a:bodyPr/>
          <a:lstStyle/>
          <a:p>
            <a:endParaRPr lang="en-US"/>
          </a:p>
        </p:txBody>
      </p:sp>
      <p:sp>
        <p:nvSpPr>
          <p:cNvPr id="16" name="Text 13"/>
          <p:cNvSpPr/>
          <p:nvPr/>
        </p:nvSpPr>
        <p:spPr>
          <a:xfrm>
            <a:off x="6446520" y="1600200"/>
            <a:ext cx="5212080" cy="274320"/>
          </a:xfrm>
          <a:prstGeom prst="rect">
            <a:avLst/>
          </a:prstGeom>
          <a:noFill/>
          <a:ln/>
        </p:spPr>
        <p:txBody>
          <a:bodyPr wrap="square" lIns="0" tIns="0" rIns="0" bIns="0" rtlCol="0" anchor="ctr"/>
          <a:lstStyle/>
          <a:p>
            <a:pPr marL="0" indent="0">
              <a:buNone/>
            </a:pPr>
            <a:r>
              <a:rPr lang="en-US" sz="1000" b="1" kern="0" spc="600" dirty="0">
                <a:solidFill>
                  <a:srgbClr val="BF5700"/>
                </a:solidFill>
                <a:latin typeface="Calibri" pitchFamily="34" charset="0"/>
                <a:ea typeface="Calibri" pitchFamily="34" charset="-122"/>
                <a:cs typeface="Calibri" pitchFamily="34" charset="-120"/>
              </a:rPr>
              <a:t>BUT THEN</a:t>
            </a:r>
            <a:endParaRPr lang="en-US" sz="1000" dirty="0"/>
          </a:p>
        </p:txBody>
      </p:sp>
      <p:sp>
        <p:nvSpPr>
          <p:cNvPr id="17" name="Text 14"/>
          <p:cNvSpPr/>
          <p:nvPr/>
        </p:nvSpPr>
        <p:spPr>
          <a:xfrm>
            <a:off x="6446520" y="1874520"/>
            <a:ext cx="5212080" cy="365760"/>
          </a:xfrm>
          <a:prstGeom prst="rect">
            <a:avLst/>
          </a:prstGeom>
          <a:noFill/>
          <a:ln/>
        </p:spPr>
        <p:txBody>
          <a:bodyPr wrap="square" lIns="0" tIns="0" rIns="0" bIns="0" rtlCol="0" anchor="ctr"/>
          <a:lstStyle/>
          <a:p>
            <a:pPr marL="0" indent="0">
              <a:buNone/>
            </a:pPr>
            <a:r>
              <a:rPr lang="en-US" sz="1700" b="1" dirty="0">
                <a:solidFill>
                  <a:srgbClr val="333F48"/>
                </a:solidFill>
                <a:latin typeface="Georgia" pitchFamily="34" charset="0"/>
                <a:ea typeface="Georgia" pitchFamily="34" charset="-122"/>
                <a:cs typeface="Georgia" pitchFamily="34" charset="-120"/>
              </a:rPr>
              <a:t>Specificity &amp; calibration disagree</a:t>
            </a:r>
            <a:endParaRPr lang="en-US" sz="1700" dirty="0"/>
          </a:p>
        </p:txBody>
      </p:sp>
      <p:sp>
        <p:nvSpPr>
          <p:cNvPr id="18" name="Shape 15"/>
          <p:cNvSpPr/>
          <p:nvPr/>
        </p:nvSpPr>
        <p:spPr>
          <a:xfrm>
            <a:off x="6492240" y="2331720"/>
            <a:ext cx="1463040" cy="365760"/>
          </a:xfrm>
          <a:prstGeom prst="rect">
            <a:avLst/>
          </a:prstGeom>
          <a:solidFill>
            <a:srgbClr val="333F48"/>
          </a:solidFill>
          <a:ln/>
        </p:spPr>
        <p:txBody>
          <a:bodyPr/>
          <a:lstStyle/>
          <a:p>
            <a:endParaRPr lang="en-US"/>
          </a:p>
        </p:txBody>
      </p:sp>
      <p:sp>
        <p:nvSpPr>
          <p:cNvPr id="19" name="Text 16"/>
          <p:cNvSpPr/>
          <p:nvPr/>
        </p:nvSpPr>
        <p:spPr>
          <a:xfrm>
            <a:off x="6492240" y="2331720"/>
            <a:ext cx="1463040" cy="365760"/>
          </a:xfrm>
          <a:prstGeom prst="rect">
            <a:avLst/>
          </a:prstGeom>
          <a:noFill/>
          <a:ln/>
        </p:spPr>
        <p:txBody>
          <a:bodyPr wrap="square" lIns="0" tIns="0" rIns="0" bIns="0" rtlCol="0" anchor="ctr"/>
          <a:lstStyle/>
          <a:p>
            <a:pPr marL="0" indent="0" algn="l">
              <a:buNone/>
            </a:pPr>
            <a:r>
              <a:rPr lang="en-US" sz="1100" b="1" kern="0" spc="100" dirty="0">
                <a:solidFill>
                  <a:srgbClr val="FFFFFF"/>
                </a:solidFill>
                <a:latin typeface="Calibri" pitchFamily="34" charset="0"/>
                <a:ea typeface="Calibri" pitchFamily="34" charset="-122"/>
                <a:cs typeface="Calibri" pitchFamily="34" charset="-120"/>
              </a:rPr>
              <a:t>Bucket</a:t>
            </a:r>
            <a:endParaRPr lang="en-US" sz="1100" dirty="0"/>
          </a:p>
        </p:txBody>
      </p:sp>
      <p:sp>
        <p:nvSpPr>
          <p:cNvPr id="20" name="Shape 17"/>
          <p:cNvSpPr/>
          <p:nvPr/>
        </p:nvSpPr>
        <p:spPr>
          <a:xfrm>
            <a:off x="7955280" y="2331720"/>
            <a:ext cx="1188720" cy="365760"/>
          </a:xfrm>
          <a:prstGeom prst="rect">
            <a:avLst/>
          </a:prstGeom>
          <a:solidFill>
            <a:srgbClr val="333F48"/>
          </a:solidFill>
          <a:ln/>
        </p:spPr>
        <p:txBody>
          <a:bodyPr/>
          <a:lstStyle/>
          <a:p>
            <a:endParaRPr lang="en-US"/>
          </a:p>
        </p:txBody>
      </p:sp>
      <p:sp>
        <p:nvSpPr>
          <p:cNvPr id="21" name="Text 18"/>
          <p:cNvSpPr/>
          <p:nvPr/>
        </p:nvSpPr>
        <p:spPr>
          <a:xfrm>
            <a:off x="7955280" y="2331720"/>
            <a:ext cx="1188720" cy="365760"/>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AUROC</a:t>
            </a:r>
            <a:endParaRPr lang="en-US" sz="1100" dirty="0"/>
          </a:p>
        </p:txBody>
      </p:sp>
      <p:sp>
        <p:nvSpPr>
          <p:cNvPr id="22" name="Shape 19"/>
          <p:cNvSpPr/>
          <p:nvPr/>
        </p:nvSpPr>
        <p:spPr>
          <a:xfrm>
            <a:off x="9144000" y="2331720"/>
            <a:ext cx="1188720" cy="365760"/>
          </a:xfrm>
          <a:prstGeom prst="rect">
            <a:avLst/>
          </a:prstGeom>
          <a:solidFill>
            <a:srgbClr val="333F48"/>
          </a:solidFill>
          <a:ln/>
        </p:spPr>
        <p:txBody>
          <a:bodyPr/>
          <a:lstStyle/>
          <a:p>
            <a:endParaRPr lang="en-US"/>
          </a:p>
        </p:txBody>
      </p:sp>
      <p:sp>
        <p:nvSpPr>
          <p:cNvPr id="23" name="Text 20"/>
          <p:cNvSpPr/>
          <p:nvPr/>
        </p:nvSpPr>
        <p:spPr>
          <a:xfrm>
            <a:off x="9144000" y="2331720"/>
            <a:ext cx="1188720" cy="365760"/>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Spec.</a:t>
            </a:r>
            <a:endParaRPr lang="en-US" sz="1100" dirty="0"/>
          </a:p>
        </p:txBody>
      </p:sp>
      <p:sp>
        <p:nvSpPr>
          <p:cNvPr id="24" name="Shape 21"/>
          <p:cNvSpPr/>
          <p:nvPr/>
        </p:nvSpPr>
        <p:spPr>
          <a:xfrm>
            <a:off x="10332720" y="2331720"/>
            <a:ext cx="1325880" cy="365760"/>
          </a:xfrm>
          <a:prstGeom prst="rect">
            <a:avLst/>
          </a:prstGeom>
          <a:solidFill>
            <a:srgbClr val="333F48"/>
          </a:solidFill>
          <a:ln/>
        </p:spPr>
        <p:txBody>
          <a:bodyPr/>
          <a:lstStyle/>
          <a:p>
            <a:endParaRPr lang="en-US"/>
          </a:p>
        </p:txBody>
      </p:sp>
      <p:sp>
        <p:nvSpPr>
          <p:cNvPr id="25" name="Text 22"/>
          <p:cNvSpPr/>
          <p:nvPr/>
        </p:nvSpPr>
        <p:spPr>
          <a:xfrm>
            <a:off x="10332720" y="2331720"/>
            <a:ext cx="1325880" cy="365760"/>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ECE</a:t>
            </a:r>
            <a:endParaRPr lang="en-US" sz="1100" dirty="0"/>
          </a:p>
        </p:txBody>
      </p:sp>
      <p:sp>
        <p:nvSpPr>
          <p:cNvPr id="26" name="Shape 23"/>
          <p:cNvSpPr/>
          <p:nvPr/>
        </p:nvSpPr>
        <p:spPr>
          <a:xfrm>
            <a:off x="6492240" y="2697480"/>
            <a:ext cx="5166360" cy="475488"/>
          </a:xfrm>
          <a:prstGeom prst="rect">
            <a:avLst/>
          </a:prstGeom>
          <a:solidFill>
            <a:srgbClr val="FFFFFF"/>
          </a:solidFill>
          <a:ln w="3810">
            <a:solidFill>
              <a:srgbClr val="D9DEE3"/>
            </a:solidFill>
            <a:prstDash val="solid"/>
          </a:ln>
        </p:spPr>
        <p:txBody>
          <a:bodyPr/>
          <a:lstStyle/>
          <a:p>
            <a:endParaRPr lang="en-US"/>
          </a:p>
        </p:txBody>
      </p:sp>
      <p:sp>
        <p:nvSpPr>
          <p:cNvPr id="27" name="Text 24"/>
          <p:cNvSpPr/>
          <p:nvPr/>
        </p:nvSpPr>
        <p:spPr>
          <a:xfrm>
            <a:off x="6583680" y="2697480"/>
            <a:ext cx="1371600" cy="475488"/>
          </a:xfrm>
          <a:prstGeom prst="rect">
            <a:avLst/>
          </a:prstGeom>
          <a:noFill/>
          <a:ln/>
        </p:spPr>
        <p:txBody>
          <a:bodyPr wrap="square" lIns="0" tIns="0" rIns="0" bIns="0" rtlCol="0" anchor="ctr"/>
          <a:lstStyle/>
          <a:p>
            <a:pPr marL="0" indent="0">
              <a:buNone/>
            </a:pPr>
            <a:r>
              <a:rPr lang="en-US" sz="1200" b="1" dirty="0">
                <a:solidFill>
                  <a:srgbClr val="333F48"/>
                </a:solidFill>
                <a:latin typeface="Calibri" pitchFamily="34" charset="0"/>
                <a:ea typeface="Calibri" pitchFamily="34" charset="-122"/>
                <a:cs typeface="Calibri" pitchFamily="34" charset="-120"/>
              </a:rPr>
              <a:t>Light  I-II</a:t>
            </a:r>
            <a:endParaRPr lang="en-US" sz="1200" dirty="0"/>
          </a:p>
        </p:txBody>
      </p:sp>
      <p:sp>
        <p:nvSpPr>
          <p:cNvPr id="28" name="Text 25"/>
          <p:cNvSpPr/>
          <p:nvPr/>
        </p:nvSpPr>
        <p:spPr>
          <a:xfrm>
            <a:off x="7955280" y="2697480"/>
            <a:ext cx="1188720" cy="475488"/>
          </a:xfrm>
          <a:prstGeom prst="rect">
            <a:avLst/>
          </a:prstGeom>
          <a:noFill/>
          <a:ln/>
        </p:spPr>
        <p:txBody>
          <a:bodyPr wrap="square" lIns="0" tIns="0" rIns="0" bIns="0" rtlCol="0" anchor="ctr"/>
          <a:lstStyle/>
          <a:p>
            <a:pPr marL="0" indent="0" algn="ctr">
              <a:buNone/>
            </a:pPr>
            <a:r>
              <a:rPr lang="en-US" sz="1400" b="1" dirty="0">
                <a:solidFill>
                  <a:srgbClr val="333F48"/>
                </a:solidFill>
                <a:latin typeface="Georgia" pitchFamily="34" charset="0"/>
                <a:ea typeface="Georgia" pitchFamily="34" charset="-122"/>
                <a:cs typeface="Georgia" pitchFamily="34" charset="-120"/>
              </a:rPr>
              <a:t>0.67</a:t>
            </a:r>
            <a:endParaRPr lang="en-US" sz="1400" dirty="0"/>
          </a:p>
        </p:txBody>
      </p:sp>
      <p:sp>
        <p:nvSpPr>
          <p:cNvPr id="29" name="Text 26"/>
          <p:cNvSpPr/>
          <p:nvPr/>
        </p:nvSpPr>
        <p:spPr>
          <a:xfrm>
            <a:off x="9144000" y="2697480"/>
            <a:ext cx="1188720" cy="475488"/>
          </a:xfrm>
          <a:prstGeom prst="rect">
            <a:avLst/>
          </a:prstGeom>
          <a:noFill/>
          <a:ln/>
        </p:spPr>
        <p:txBody>
          <a:bodyPr wrap="square" lIns="0" tIns="0" rIns="0" bIns="0" rtlCol="0" anchor="ctr"/>
          <a:lstStyle/>
          <a:p>
            <a:pPr marL="0" indent="0" algn="ctr">
              <a:buNone/>
            </a:pPr>
            <a:r>
              <a:rPr lang="en-US" sz="1400" b="1" dirty="0">
                <a:solidFill>
                  <a:srgbClr val="BF5700"/>
                </a:solidFill>
                <a:latin typeface="Georgia" pitchFamily="34" charset="0"/>
                <a:ea typeface="Georgia" pitchFamily="34" charset="-122"/>
                <a:cs typeface="Georgia" pitchFamily="34" charset="-120"/>
              </a:rPr>
              <a:t>0.58</a:t>
            </a:r>
            <a:endParaRPr lang="en-US" sz="1400" dirty="0"/>
          </a:p>
        </p:txBody>
      </p:sp>
      <p:sp>
        <p:nvSpPr>
          <p:cNvPr id="30" name="Text 27"/>
          <p:cNvSpPr/>
          <p:nvPr/>
        </p:nvSpPr>
        <p:spPr>
          <a:xfrm>
            <a:off x="10332720" y="2697480"/>
            <a:ext cx="1325880" cy="475488"/>
          </a:xfrm>
          <a:prstGeom prst="rect">
            <a:avLst/>
          </a:prstGeom>
          <a:noFill/>
          <a:ln/>
        </p:spPr>
        <p:txBody>
          <a:bodyPr wrap="square" lIns="0" tIns="0" rIns="0" bIns="0" rtlCol="0" anchor="ctr"/>
          <a:lstStyle/>
          <a:p>
            <a:pPr marL="0" indent="0" algn="ctr">
              <a:buNone/>
            </a:pPr>
            <a:r>
              <a:rPr lang="en-US" sz="1400" b="1" dirty="0">
                <a:solidFill>
                  <a:srgbClr val="BF5700"/>
                </a:solidFill>
                <a:latin typeface="Georgia" pitchFamily="34" charset="0"/>
                <a:ea typeface="Georgia" pitchFamily="34" charset="-122"/>
                <a:cs typeface="Georgia" pitchFamily="34" charset="-120"/>
              </a:rPr>
              <a:t>0.080</a:t>
            </a:r>
            <a:endParaRPr lang="en-US" sz="1400" dirty="0"/>
          </a:p>
        </p:txBody>
      </p:sp>
      <p:sp>
        <p:nvSpPr>
          <p:cNvPr id="31" name="Shape 28"/>
          <p:cNvSpPr/>
          <p:nvPr/>
        </p:nvSpPr>
        <p:spPr>
          <a:xfrm>
            <a:off x="6492240" y="3200400"/>
            <a:ext cx="5166360" cy="475488"/>
          </a:xfrm>
          <a:prstGeom prst="rect">
            <a:avLst/>
          </a:prstGeom>
          <a:solidFill>
            <a:srgbClr val="FFFFFF"/>
          </a:solidFill>
          <a:ln w="3810">
            <a:solidFill>
              <a:srgbClr val="D9DEE3"/>
            </a:solidFill>
            <a:prstDash val="solid"/>
          </a:ln>
        </p:spPr>
        <p:txBody>
          <a:bodyPr/>
          <a:lstStyle/>
          <a:p>
            <a:endParaRPr lang="en-US"/>
          </a:p>
        </p:txBody>
      </p:sp>
      <p:sp>
        <p:nvSpPr>
          <p:cNvPr id="32" name="Text 29"/>
          <p:cNvSpPr/>
          <p:nvPr/>
        </p:nvSpPr>
        <p:spPr>
          <a:xfrm>
            <a:off x="6583680" y="3200400"/>
            <a:ext cx="1371600" cy="475488"/>
          </a:xfrm>
          <a:prstGeom prst="rect">
            <a:avLst/>
          </a:prstGeom>
          <a:noFill/>
          <a:ln/>
        </p:spPr>
        <p:txBody>
          <a:bodyPr wrap="square" lIns="0" tIns="0" rIns="0" bIns="0" rtlCol="0" anchor="ctr"/>
          <a:lstStyle/>
          <a:p>
            <a:pPr marL="0" indent="0">
              <a:buNone/>
            </a:pPr>
            <a:r>
              <a:rPr lang="en-US" sz="1200" b="1" dirty="0">
                <a:solidFill>
                  <a:srgbClr val="333F48"/>
                </a:solidFill>
                <a:latin typeface="Calibri" pitchFamily="34" charset="0"/>
                <a:ea typeface="Calibri" pitchFamily="34" charset="-122"/>
                <a:cs typeface="Calibri" pitchFamily="34" charset="-120"/>
              </a:rPr>
              <a:t>Medium  III-IV</a:t>
            </a:r>
            <a:endParaRPr lang="en-US" sz="1200" dirty="0"/>
          </a:p>
        </p:txBody>
      </p:sp>
      <p:sp>
        <p:nvSpPr>
          <p:cNvPr id="33" name="Text 30"/>
          <p:cNvSpPr/>
          <p:nvPr/>
        </p:nvSpPr>
        <p:spPr>
          <a:xfrm>
            <a:off x="7955280" y="3200400"/>
            <a:ext cx="1188720" cy="475488"/>
          </a:xfrm>
          <a:prstGeom prst="rect">
            <a:avLst/>
          </a:prstGeom>
          <a:noFill/>
          <a:ln/>
        </p:spPr>
        <p:txBody>
          <a:bodyPr wrap="square" lIns="0" tIns="0" rIns="0" bIns="0" rtlCol="0" anchor="ctr"/>
          <a:lstStyle/>
          <a:p>
            <a:pPr marL="0" indent="0" algn="ctr">
              <a:buNone/>
            </a:pPr>
            <a:r>
              <a:rPr lang="en-US" sz="1400" b="1" dirty="0">
                <a:solidFill>
                  <a:srgbClr val="333F48"/>
                </a:solidFill>
                <a:latin typeface="Georgia" pitchFamily="34" charset="0"/>
                <a:ea typeface="Georgia" pitchFamily="34" charset="-122"/>
                <a:cs typeface="Georgia" pitchFamily="34" charset="-120"/>
              </a:rPr>
              <a:t>0.66</a:t>
            </a:r>
            <a:endParaRPr lang="en-US" sz="1400" dirty="0"/>
          </a:p>
        </p:txBody>
      </p:sp>
      <p:sp>
        <p:nvSpPr>
          <p:cNvPr id="34" name="Text 31"/>
          <p:cNvSpPr/>
          <p:nvPr/>
        </p:nvSpPr>
        <p:spPr>
          <a:xfrm>
            <a:off x="9144000" y="3200400"/>
            <a:ext cx="1188720" cy="475488"/>
          </a:xfrm>
          <a:prstGeom prst="rect">
            <a:avLst/>
          </a:prstGeom>
          <a:noFill/>
          <a:ln/>
        </p:spPr>
        <p:txBody>
          <a:bodyPr wrap="square" lIns="0" tIns="0" rIns="0" bIns="0" rtlCol="0" anchor="ctr"/>
          <a:lstStyle/>
          <a:p>
            <a:pPr marL="0" indent="0" algn="ctr">
              <a:buNone/>
            </a:pPr>
            <a:r>
              <a:rPr lang="en-US" sz="1400" b="1" dirty="0">
                <a:solidFill>
                  <a:srgbClr val="BF5700"/>
                </a:solidFill>
                <a:latin typeface="Georgia" pitchFamily="34" charset="0"/>
                <a:ea typeface="Georgia" pitchFamily="34" charset="-122"/>
                <a:cs typeface="Georgia" pitchFamily="34" charset="-120"/>
              </a:rPr>
              <a:t>0.56</a:t>
            </a:r>
            <a:endParaRPr lang="en-US" sz="1400" dirty="0"/>
          </a:p>
        </p:txBody>
      </p:sp>
      <p:sp>
        <p:nvSpPr>
          <p:cNvPr id="35" name="Text 32"/>
          <p:cNvSpPr/>
          <p:nvPr/>
        </p:nvSpPr>
        <p:spPr>
          <a:xfrm>
            <a:off x="10332720" y="3200400"/>
            <a:ext cx="1325880" cy="475488"/>
          </a:xfrm>
          <a:prstGeom prst="rect">
            <a:avLst/>
          </a:prstGeom>
          <a:noFill/>
          <a:ln/>
        </p:spPr>
        <p:txBody>
          <a:bodyPr wrap="square" lIns="0" tIns="0" rIns="0" bIns="0" rtlCol="0" anchor="ctr"/>
          <a:lstStyle/>
          <a:p>
            <a:pPr marL="0" indent="0" algn="ctr">
              <a:buNone/>
            </a:pPr>
            <a:r>
              <a:rPr lang="en-US" sz="1400" b="1" dirty="0">
                <a:solidFill>
                  <a:srgbClr val="BF5700"/>
                </a:solidFill>
                <a:latin typeface="Georgia" pitchFamily="34" charset="0"/>
                <a:ea typeface="Georgia" pitchFamily="34" charset="-122"/>
                <a:cs typeface="Georgia" pitchFamily="34" charset="-120"/>
              </a:rPr>
              <a:t>0.103</a:t>
            </a:r>
            <a:endParaRPr lang="en-US" sz="1400" dirty="0"/>
          </a:p>
        </p:txBody>
      </p:sp>
      <p:sp>
        <p:nvSpPr>
          <p:cNvPr id="36" name="Shape 33"/>
          <p:cNvSpPr/>
          <p:nvPr/>
        </p:nvSpPr>
        <p:spPr>
          <a:xfrm>
            <a:off x="6492240" y="3703320"/>
            <a:ext cx="5166360" cy="475488"/>
          </a:xfrm>
          <a:prstGeom prst="rect">
            <a:avLst/>
          </a:prstGeom>
          <a:solidFill>
            <a:srgbClr val="BF5700"/>
          </a:solidFill>
          <a:ln w="3810">
            <a:solidFill>
              <a:srgbClr val="D9DEE3"/>
            </a:solidFill>
            <a:prstDash val="solid"/>
          </a:ln>
        </p:spPr>
        <p:txBody>
          <a:bodyPr/>
          <a:lstStyle/>
          <a:p>
            <a:endParaRPr lang="en-US"/>
          </a:p>
        </p:txBody>
      </p:sp>
      <p:sp>
        <p:nvSpPr>
          <p:cNvPr id="37" name="Text 34"/>
          <p:cNvSpPr/>
          <p:nvPr/>
        </p:nvSpPr>
        <p:spPr>
          <a:xfrm>
            <a:off x="6583680" y="3703320"/>
            <a:ext cx="1371600" cy="47548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Dark  V-VI</a:t>
            </a:r>
            <a:endParaRPr lang="en-US" sz="1200" dirty="0"/>
          </a:p>
        </p:txBody>
      </p:sp>
      <p:sp>
        <p:nvSpPr>
          <p:cNvPr id="38" name="Text 35"/>
          <p:cNvSpPr/>
          <p:nvPr/>
        </p:nvSpPr>
        <p:spPr>
          <a:xfrm>
            <a:off x="7955280" y="3703320"/>
            <a:ext cx="118872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0.67</a:t>
            </a:r>
            <a:endParaRPr lang="en-US" sz="1400" dirty="0"/>
          </a:p>
        </p:txBody>
      </p:sp>
      <p:sp>
        <p:nvSpPr>
          <p:cNvPr id="39" name="Text 36"/>
          <p:cNvSpPr/>
          <p:nvPr/>
        </p:nvSpPr>
        <p:spPr>
          <a:xfrm>
            <a:off x="9144000" y="3703320"/>
            <a:ext cx="118872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0.45</a:t>
            </a:r>
            <a:endParaRPr lang="en-US" sz="1400" dirty="0"/>
          </a:p>
        </p:txBody>
      </p:sp>
      <p:sp>
        <p:nvSpPr>
          <p:cNvPr id="40" name="Text 37"/>
          <p:cNvSpPr/>
          <p:nvPr/>
        </p:nvSpPr>
        <p:spPr>
          <a:xfrm>
            <a:off x="10332720" y="3703320"/>
            <a:ext cx="132588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0.178</a:t>
            </a:r>
            <a:endParaRPr lang="en-US" sz="1400" dirty="0"/>
          </a:p>
        </p:txBody>
      </p:sp>
      <p:sp>
        <p:nvSpPr>
          <p:cNvPr id="41" name="Text 38"/>
          <p:cNvSpPr/>
          <p:nvPr/>
        </p:nvSpPr>
        <p:spPr>
          <a:xfrm>
            <a:off x="6492240" y="4389120"/>
            <a:ext cx="5212080" cy="1783080"/>
          </a:xfrm>
          <a:prstGeom prst="rect">
            <a:avLst/>
          </a:prstGeom>
          <a:noFill/>
          <a:ln/>
        </p:spPr>
        <p:txBody>
          <a:bodyPr wrap="square" lIns="0" tIns="0" rIns="0" bIns="0" rtlCol="0" anchor="t"/>
          <a:lstStyle/>
          <a:p>
            <a:pPr marL="0" indent="0">
              <a:spcAft>
                <a:spcPts val="400"/>
              </a:spcAft>
              <a:buNone/>
            </a:pPr>
            <a:r>
              <a:rPr lang="en-US" sz="1200" dirty="0">
                <a:solidFill>
                  <a:srgbClr val="1A1A1A"/>
                </a:solidFill>
                <a:latin typeface="Calibri" pitchFamily="34" charset="0"/>
                <a:ea typeface="Calibri" pitchFamily="34" charset="-122"/>
                <a:cs typeface="Calibri" pitchFamily="34" charset="-120"/>
              </a:rPr>
              <a:t>Δ specificity   light → dark:  </a:t>
            </a:r>
            <a:r>
              <a:rPr lang="en-US" sz="1400" b="1" dirty="0">
                <a:solidFill>
                  <a:srgbClr val="BF5700"/>
                </a:solidFill>
                <a:latin typeface="Georgia" pitchFamily="34" charset="0"/>
                <a:ea typeface="Georgia" pitchFamily="34" charset="-122"/>
                <a:cs typeface="Georgia" pitchFamily="34" charset="-120"/>
              </a:rPr>
              <a:t>−0.13</a:t>
            </a:r>
            <a:endParaRPr lang="en-US" sz="1200" dirty="0"/>
          </a:p>
          <a:p>
            <a:pPr marL="0" indent="0">
              <a:spcAft>
                <a:spcPts val="400"/>
              </a:spcAft>
              <a:buNone/>
            </a:pPr>
            <a:r>
              <a:rPr lang="en-US" sz="1200" dirty="0">
                <a:solidFill>
                  <a:srgbClr val="1A1A1A"/>
                </a:solidFill>
                <a:latin typeface="Calibri" pitchFamily="34" charset="0"/>
                <a:ea typeface="Calibri" pitchFamily="34" charset="-122"/>
                <a:cs typeface="Calibri" pitchFamily="34" charset="-120"/>
              </a:rPr>
              <a:t>Δ ECE   light → dark:  </a:t>
            </a:r>
            <a:r>
              <a:rPr lang="en-US" sz="1400" b="1" dirty="0">
                <a:solidFill>
                  <a:srgbClr val="BF5700"/>
                </a:solidFill>
                <a:latin typeface="Georgia" pitchFamily="34" charset="0"/>
                <a:ea typeface="Georgia" pitchFamily="34" charset="-122"/>
                <a:cs typeface="Georgia" pitchFamily="34" charset="-120"/>
              </a:rPr>
              <a:t>+0.098</a:t>
            </a:r>
            <a:endParaRPr lang="en-US" sz="1200" dirty="0"/>
          </a:p>
          <a:p>
            <a:pPr marL="0" indent="0">
              <a:spcAft>
                <a:spcPts val="400"/>
              </a:spcAft>
              <a:buNone/>
            </a:pPr>
            <a:r>
              <a:rPr lang="en-US" sz="600" dirty="0">
                <a:solidFill>
                  <a:srgbClr val="000000"/>
                </a:solidFill>
              </a:rPr>
              <a:t> </a:t>
            </a:r>
            <a:endParaRPr lang="en-US" sz="1200" dirty="0"/>
          </a:p>
          <a:p>
            <a:pPr marL="0" indent="0">
              <a:spcAft>
                <a:spcPts val="400"/>
              </a:spcAft>
              <a:buNone/>
            </a:pPr>
            <a:r>
              <a:rPr lang="en-US" sz="1200" dirty="0">
                <a:solidFill>
                  <a:srgbClr val="1A1A1A"/>
                </a:solidFill>
                <a:latin typeface="Calibri" pitchFamily="34" charset="0"/>
                <a:ea typeface="Calibri" pitchFamily="34" charset="-122"/>
                <a:cs typeface="Calibri" pitchFamily="34" charset="-120"/>
              </a:rPr>
              <a:t>Equalised-odds gap:  </a:t>
            </a:r>
            <a:r>
              <a:rPr lang="en-US" sz="1200" b="1" dirty="0">
                <a:solidFill>
                  <a:srgbClr val="333F48"/>
                </a:solidFill>
                <a:latin typeface="Georgia" pitchFamily="34" charset="0"/>
                <a:ea typeface="Georgia" pitchFamily="34" charset="-122"/>
                <a:cs typeface="Georgia" pitchFamily="34" charset="-120"/>
              </a:rPr>
              <a:t>CBM 0.133  </a:t>
            </a:r>
            <a:r>
              <a:rPr lang="en-US" sz="1100" i="1" dirty="0">
                <a:solidFill>
                  <a:srgbClr val="6C7A89"/>
                </a:solidFill>
                <a:latin typeface="Calibri" pitchFamily="34" charset="0"/>
                <a:ea typeface="Calibri" pitchFamily="34" charset="-122"/>
                <a:cs typeface="Calibri" pitchFamily="34" charset="-120"/>
              </a:rPr>
              <a:t>&gt; EffNet 0.098 &gt; ResNet 0.051</a:t>
            </a:r>
            <a:endParaRPr lang="en-US" sz="1200" dirty="0"/>
          </a:p>
        </p:txBody>
      </p:sp>
      <p:sp>
        <p:nvSpPr>
          <p:cNvPr id="42" name="Shape 39"/>
          <p:cNvSpPr/>
          <p:nvPr/>
        </p:nvSpPr>
        <p:spPr>
          <a:xfrm>
            <a:off x="548640" y="6355080"/>
            <a:ext cx="11247120" cy="0"/>
          </a:xfrm>
          <a:prstGeom prst="rect">
            <a:avLst/>
          </a:prstGeom>
          <a:noFill/>
          <a:ln w="6350">
            <a:solidFill>
              <a:srgbClr val="D9DEE3"/>
            </a:solidFill>
            <a:prstDash val="solid"/>
          </a:ln>
        </p:spPr>
        <p:txBody>
          <a:bodyPr/>
          <a:lstStyle/>
          <a:p>
            <a:endParaRPr lang="en-US"/>
          </a:p>
        </p:txBody>
      </p:sp>
      <p:sp>
        <p:nvSpPr>
          <p:cNvPr id="43" name="Text 40"/>
          <p:cNvSpPr/>
          <p:nvPr/>
        </p:nvSpPr>
        <p:spPr>
          <a:xfrm>
            <a:off x="548640" y="6355080"/>
            <a:ext cx="11247120" cy="411480"/>
          </a:xfrm>
          <a:prstGeom prst="rect">
            <a:avLst/>
          </a:prstGeom>
          <a:noFill/>
          <a:ln/>
        </p:spPr>
        <p:txBody>
          <a:bodyPr wrap="square" lIns="0" tIns="0" rIns="0" bIns="0" rtlCol="0" anchor="t"/>
          <a:lstStyle/>
          <a:p>
            <a:pPr marL="0" indent="0" algn="ctr">
              <a:buNone/>
            </a:pPr>
            <a:r>
              <a:rPr lang="en-US" sz="1300" i="1" dirty="0">
                <a:solidFill>
                  <a:srgbClr val="333F48"/>
                </a:solidFill>
                <a:latin typeface="Calibri" pitchFamily="34" charset="0"/>
                <a:ea typeface="Calibri" pitchFamily="34" charset="-122"/>
                <a:cs typeface="Calibri" pitchFamily="34" charset="-120"/>
              </a:rPr>
              <a:t>The head over-calls positives on dark skin rather than missing them and a clinically material fairness failure mode that AUROC alone hides.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600" dirty="0">
                <a:solidFill>
                  <a:srgbClr val="BF5700"/>
                </a:solidFill>
                <a:latin typeface="Calibri" pitchFamily="34" charset="0"/>
                <a:ea typeface="Calibri" pitchFamily="34" charset="-122"/>
                <a:cs typeface="Calibri" pitchFamily="34" charset="-120"/>
              </a:rPr>
              <a:t>Q3  ·  INTERVENTION</a:t>
            </a:r>
            <a:endParaRPr lang="en-US" sz="1100" dirty="0"/>
          </a:p>
        </p:txBody>
      </p:sp>
      <p:sp>
        <p:nvSpPr>
          <p:cNvPr id="3" name="Text 1"/>
          <p:cNvSpPr/>
          <p:nvPr/>
        </p:nvSpPr>
        <p:spPr>
          <a:xfrm>
            <a:off x="548640" y="713232"/>
            <a:ext cx="11155680" cy="594360"/>
          </a:xfrm>
          <a:prstGeom prst="rect">
            <a:avLst/>
          </a:prstGeom>
          <a:noFill/>
          <a:ln/>
        </p:spPr>
        <p:txBody>
          <a:bodyPr wrap="square" lIns="0" tIns="0" rIns="0" bIns="0" rtlCol="0" anchor="ctr"/>
          <a:lstStyle/>
          <a:p>
            <a:pPr marL="0" indent="0">
              <a:buNone/>
            </a:pPr>
            <a:r>
              <a:rPr lang="en-US" sz="2600" b="1" dirty="0">
                <a:solidFill>
                  <a:srgbClr val="333F48"/>
                </a:solidFill>
                <a:latin typeface="Georgia" pitchFamily="34" charset="0"/>
                <a:ea typeface="Georgia" pitchFamily="34" charset="-122"/>
                <a:cs typeface="Georgia" pitchFamily="34" charset="-120"/>
              </a:rPr>
              <a:t>One concept fix rescues 85.8 % of CBM errors</a:t>
            </a:r>
            <a:endParaRPr lang="en-US" sz="2600" dirty="0"/>
          </a:p>
        </p:txBody>
      </p:sp>
      <p:sp>
        <p:nvSpPr>
          <p:cNvPr id="4" name="Shape 2"/>
          <p:cNvSpPr/>
          <p:nvPr/>
        </p:nvSpPr>
        <p:spPr>
          <a:xfrm>
            <a:off x="548640" y="6473952"/>
            <a:ext cx="11064240" cy="0"/>
          </a:xfrm>
          <a:prstGeom prst="line">
            <a:avLst/>
          </a:prstGeom>
          <a:noFill/>
          <a:ln w="9525">
            <a:solidFill>
              <a:srgbClr val="D9DEE3"/>
            </a:solidFill>
            <a:prstDash val="solid"/>
          </a:ln>
        </p:spPr>
        <p:txBody>
          <a:bodyPr/>
          <a:lstStyle/>
          <a:p>
            <a:endParaRPr lang="en-US"/>
          </a:p>
        </p:txBody>
      </p:sp>
      <p:sp>
        <p:nvSpPr>
          <p:cNvPr id="5" name="Text 3"/>
          <p:cNvSpPr/>
          <p:nvPr/>
        </p:nvSpPr>
        <p:spPr>
          <a:xfrm>
            <a:off x="548640" y="6528816"/>
            <a:ext cx="7315200" cy="237744"/>
          </a:xfrm>
          <a:prstGeom prst="rect">
            <a:avLst/>
          </a:prstGeom>
          <a:noFill/>
          <a:ln/>
        </p:spPr>
        <p:txBody>
          <a:bodyPr wrap="square" lIns="0" tIns="0" rIns="0" bIns="0" rtlCol="0" anchor="ctr"/>
          <a:lstStyle/>
          <a:p>
            <a:pPr marL="0" indent="0">
              <a:buNone/>
            </a:pPr>
            <a:r>
              <a:rPr lang="en-US" sz="900" i="1" dirty="0">
                <a:solidFill>
                  <a:srgbClr val="6C7A89"/>
                </a:solidFill>
                <a:latin typeface="Calibri" pitchFamily="34" charset="0"/>
                <a:ea typeface="Calibri" pitchFamily="34" charset="-122"/>
                <a:cs typeface="Calibri" pitchFamily="34" charset="-120"/>
              </a:rPr>
              <a:t>VLM-CBM Dermatology  ·  Fitzpatrick Fairness Audit</a:t>
            </a:r>
            <a:endParaRPr lang="en-US" sz="900" dirty="0"/>
          </a:p>
        </p:txBody>
      </p:sp>
      <p:sp>
        <p:nvSpPr>
          <p:cNvPr id="6" name="Text 4"/>
          <p:cNvSpPr/>
          <p:nvPr/>
        </p:nvSpPr>
        <p:spPr>
          <a:xfrm>
            <a:off x="7863840" y="6528816"/>
            <a:ext cx="3200400" cy="237744"/>
          </a:xfrm>
          <a:prstGeom prst="rect">
            <a:avLst/>
          </a:prstGeom>
          <a:noFill/>
          <a:ln/>
        </p:spPr>
        <p:txBody>
          <a:bodyPr wrap="square" lIns="0" tIns="0" rIns="0" bIns="0" rtlCol="0" anchor="ctr"/>
          <a:lstStyle/>
          <a:p>
            <a:pPr marL="0" indent="0" algn="r">
              <a:buNone/>
            </a:pPr>
            <a:r>
              <a:rPr lang="en-US" sz="900" i="1" dirty="0">
                <a:solidFill>
                  <a:srgbClr val="6C7A89"/>
                </a:solidFill>
                <a:latin typeface="Calibri" pitchFamily="34" charset="0"/>
                <a:ea typeface="Calibri" pitchFamily="34" charset="-122"/>
                <a:cs typeface="Calibri" pitchFamily="34" charset="-120"/>
              </a:rPr>
              <a:t>Deepesh Khanna  ·  UT Austin</a:t>
            </a:r>
            <a:endParaRPr lang="en-US" sz="900" dirty="0"/>
          </a:p>
        </p:txBody>
      </p:sp>
      <p:sp>
        <p:nvSpPr>
          <p:cNvPr id="7" name="Text 5"/>
          <p:cNvSpPr/>
          <p:nvPr/>
        </p:nvSpPr>
        <p:spPr>
          <a:xfrm>
            <a:off x="11430000" y="6528816"/>
            <a:ext cx="274320" cy="237744"/>
          </a:xfrm>
          <a:prstGeom prst="rect">
            <a:avLst/>
          </a:prstGeom>
          <a:noFill/>
          <a:ln/>
        </p:spPr>
        <p:txBody>
          <a:bodyPr wrap="square" lIns="0" tIns="0" rIns="0" bIns="0" rtlCol="0" anchor="ctr"/>
          <a:lstStyle/>
          <a:p>
            <a:pPr marL="0" indent="0" algn="r">
              <a:buNone/>
            </a:pPr>
            <a:r>
              <a:rPr lang="en-US" sz="900" b="1" dirty="0">
                <a:solidFill>
                  <a:srgbClr val="BF5700"/>
                </a:solidFill>
                <a:latin typeface="Calibri" pitchFamily="34" charset="0"/>
                <a:ea typeface="Calibri" pitchFamily="34" charset="-122"/>
                <a:cs typeface="Calibri" pitchFamily="34" charset="-120"/>
              </a:rPr>
              <a:t>8</a:t>
            </a:r>
            <a:endParaRPr lang="en-US" sz="900" dirty="0"/>
          </a:p>
        </p:txBody>
      </p:sp>
      <p:sp>
        <p:nvSpPr>
          <p:cNvPr id="8" name="Shape 6"/>
          <p:cNvSpPr/>
          <p:nvPr/>
        </p:nvSpPr>
        <p:spPr>
          <a:xfrm>
            <a:off x="548640" y="1508760"/>
            <a:ext cx="4754880" cy="3017520"/>
          </a:xfrm>
          <a:prstGeom prst="rect">
            <a:avLst/>
          </a:prstGeom>
          <a:solidFill>
            <a:srgbClr val="333F48"/>
          </a:solidFill>
          <a:ln/>
        </p:spPr>
        <p:txBody>
          <a:bodyPr/>
          <a:lstStyle/>
          <a:p>
            <a:endParaRPr lang="en-US"/>
          </a:p>
        </p:txBody>
      </p:sp>
      <p:sp>
        <p:nvSpPr>
          <p:cNvPr id="9" name="Text 7"/>
          <p:cNvSpPr/>
          <p:nvPr/>
        </p:nvSpPr>
        <p:spPr>
          <a:xfrm>
            <a:off x="548640" y="1600200"/>
            <a:ext cx="4754880" cy="1828800"/>
          </a:xfrm>
          <a:prstGeom prst="rect">
            <a:avLst/>
          </a:prstGeom>
          <a:noFill/>
          <a:ln/>
        </p:spPr>
        <p:txBody>
          <a:bodyPr wrap="square" lIns="0" tIns="0" rIns="0" bIns="0" rtlCol="0" anchor="ctr"/>
          <a:lstStyle/>
          <a:p>
            <a:pPr marL="0" indent="0" algn="ctr">
              <a:buNone/>
            </a:pPr>
            <a:r>
              <a:rPr lang="en-US" sz="9600" b="1" dirty="0">
                <a:solidFill>
                  <a:srgbClr val="E87722"/>
                </a:solidFill>
                <a:latin typeface="Georgia" pitchFamily="34" charset="0"/>
                <a:ea typeface="Georgia" pitchFamily="34" charset="-122"/>
                <a:cs typeface="Georgia" pitchFamily="34" charset="-120"/>
              </a:rPr>
              <a:t>85.8%</a:t>
            </a:r>
            <a:endParaRPr lang="en-US" sz="9600" dirty="0"/>
          </a:p>
        </p:txBody>
      </p:sp>
      <p:sp>
        <p:nvSpPr>
          <p:cNvPr id="10" name="Text 8"/>
          <p:cNvSpPr/>
          <p:nvPr/>
        </p:nvSpPr>
        <p:spPr>
          <a:xfrm>
            <a:off x="822960" y="3429000"/>
            <a:ext cx="42062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of CBM errors rescued by correcting ONE concept</a:t>
            </a:r>
            <a:endParaRPr lang="en-US" sz="1300" dirty="0"/>
          </a:p>
        </p:txBody>
      </p:sp>
      <p:sp>
        <p:nvSpPr>
          <p:cNvPr id="11" name="Text 9"/>
          <p:cNvSpPr/>
          <p:nvPr/>
        </p:nvSpPr>
        <p:spPr>
          <a:xfrm>
            <a:off x="822960" y="3931920"/>
            <a:ext cx="4206240" cy="365760"/>
          </a:xfrm>
          <a:prstGeom prst="rect">
            <a:avLst/>
          </a:prstGeom>
          <a:noFill/>
          <a:ln/>
        </p:spPr>
        <p:txBody>
          <a:bodyPr wrap="square" lIns="0" tIns="0" rIns="0" bIns="0" rtlCol="0" anchor="ctr"/>
          <a:lstStyle/>
          <a:p>
            <a:pPr marL="0" indent="0" algn="ctr">
              <a:buNone/>
            </a:pPr>
            <a:r>
              <a:rPr lang="en-US" sz="1200" i="1" dirty="0">
                <a:solidFill>
                  <a:srgbClr val="CAD8E2"/>
                </a:solidFill>
                <a:latin typeface="Calibri" pitchFamily="34" charset="0"/>
                <a:ea typeface="Calibri" pitchFamily="34" charset="-122"/>
                <a:cs typeface="Calibri" pitchFamily="34" charset="-120"/>
              </a:rPr>
              <a:t>86.5 % with two concepts corrected</a:t>
            </a:r>
            <a:endParaRPr lang="en-US" sz="1200" dirty="0"/>
          </a:p>
        </p:txBody>
      </p:sp>
      <p:sp>
        <p:nvSpPr>
          <p:cNvPr id="12" name="Text 10"/>
          <p:cNvSpPr/>
          <p:nvPr/>
        </p:nvSpPr>
        <p:spPr>
          <a:xfrm>
            <a:off x="548640" y="4663440"/>
            <a:ext cx="4754880" cy="914400"/>
          </a:xfrm>
          <a:prstGeom prst="rect">
            <a:avLst/>
          </a:prstGeom>
          <a:noFill/>
          <a:ln/>
        </p:spPr>
        <p:txBody>
          <a:bodyPr wrap="square" lIns="0" tIns="0" rIns="0" bIns="0" rtlCol="0" anchor="t"/>
          <a:lstStyle/>
          <a:p>
            <a:pPr marL="0" indent="0">
              <a:buNone/>
            </a:pPr>
            <a:r>
              <a:rPr lang="en-US" sz="1300" b="1" dirty="0">
                <a:solidFill>
                  <a:srgbClr val="BF5700"/>
                </a:solidFill>
                <a:latin typeface="Georgia" pitchFamily="34" charset="0"/>
                <a:ea typeface="Georgia" pitchFamily="34" charset="-122"/>
                <a:cs typeface="Georgia" pitchFamily="34" charset="-120"/>
              </a:rPr>
              <a:t>Error budget lives in the concepts, not in the head.  </a:t>
            </a:r>
            <a:r>
              <a:rPr lang="en-US" sz="1250" dirty="0">
                <a:solidFill>
                  <a:srgbClr val="1A1A1A"/>
                </a:solidFill>
                <a:latin typeface="Calibri" pitchFamily="34" charset="0"/>
                <a:ea typeface="Calibri" pitchFamily="34" charset="-122"/>
                <a:cs typeface="Calibri" pitchFamily="34" charset="-120"/>
              </a:rPr>
              <a:t>Targeted concept retraining is the next highest-yield step.</a:t>
            </a:r>
            <a:endParaRPr lang="en-US" sz="1300" dirty="0"/>
          </a:p>
        </p:txBody>
      </p:sp>
      <p:sp>
        <p:nvSpPr>
          <p:cNvPr id="13" name="Shape 11"/>
          <p:cNvSpPr/>
          <p:nvPr/>
        </p:nvSpPr>
        <p:spPr>
          <a:xfrm>
            <a:off x="548640" y="5623560"/>
            <a:ext cx="1463040" cy="621792"/>
          </a:xfrm>
          <a:prstGeom prst="rect">
            <a:avLst/>
          </a:prstGeom>
          <a:solidFill>
            <a:srgbClr val="FFFFFF"/>
          </a:solidFill>
          <a:ln w="6350">
            <a:solidFill>
              <a:srgbClr val="D9DEE3"/>
            </a:solidFill>
            <a:prstDash val="solid"/>
          </a:ln>
        </p:spPr>
        <p:txBody>
          <a:bodyPr/>
          <a:lstStyle/>
          <a:p>
            <a:endParaRPr lang="en-US"/>
          </a:p>
        </p:txBody>
      </p:sp>
      <p:sp>
        <p:nvSpPr>
          <p:cNvPr id="14" name="Shape 12"/>
          <p:cNvSpPr/>
          <p:nvPr/>
        </p:nvSpPr>
        <p:spPr>
          <a:xfrm>
            <a:off x="548640" y="5623560"/>
            <a:ext cx="54864" cy="621792"/>
          </a:xfrm>
          <a:prstGeom prst="rect">
            <a:avLst/>
          </a:prstGeom>
          <a:solidFill>
            <a:srgbClr val="BF5700"/>
          </a:solidFill>
          <a:ln/>
        </p:spPr>
        <p:txBody>
          <a:bodyPr/>
          <a:lstStyle/>
          <a:p>
            <a:endParaRPr lang="en-US"/>
          </a:p>
        </p:txBody>
      </p:sp>
      <p:sp>
        <p:nvSpPr>
          <p:cNvPr id="15" name="Text 13"/>
          <p:cNvSpPr/>
          <p:nvPr/>
        </p:nvSpPr>
        <p:spPr>
          <a:xfrm>
            <a:off x="640080" y="5623560"/>
            <a:ext cx="1325880" cy="320040"/>
          </a:xfrm>
          <a:prstGeom prst="rect">
            <a:avLst/>
          </a:prstGeom>
          <a:noFill/>
          <a:ln/>
        </p:spPr>
        <p:txBody>
          <a:bodyPr wrap="square" lIns="0" tIns="0" rIns="0" bIns="0" rtlCol="0" anchor="ctr"/>
          <a:lstStyle/>
          <a:p>
            <a:pPr marL="0" indent="0">
              <a:buNone/>
            </a:pPr>
            <a:r>
              <a:rPr lang="en-US" sz="1500" b="1" dirty="0">
                <a:solidFill>
                  <a:srgbClr val="BF5700"/>
                </a:solidFill>
                <a:latin typeface="Georgia" pitchFamily="34" charset="0"/>
                <a:ea typeface="Georgia" pitchFamily="34" charset="-122"/>
                <a:cs typeface="Georgia" pitchFamily="34" charset="-120"/>
              </a:rPr>
              <a:t>65.4 %</a:t>
            </a:r>
            <a:endParaRPr lang="en-US" sz="1500" dirty="0"/>
          </a:p>
        </p:txBody>
      </p:sp>
      <p:sp>
        <p:nvSpPr>
          <p:cNvPr id="16" name="Text 14"/>
          <p:cNvSpPr/>
          <p:nvPr/>
        </p:nvSpPr>
        <p:spPr>
          <a:xfrm>
            <a:off x="640080" y="5925312"/>
            <a:ext cx="1325880" cy="292608"/>
          </a:xfrm>
          <a:prstGeom prst="rect">
            <a:avLst/>
          </a:prstGeom>
          <a:noFill/>
          <a:ln/>
        </p:spPr>
        <p:txBody>
          <a:bodyPr wrap="square" lIns="0" tIns="0" rIns="0" bIns="0" rtlCol="0" anchor="ctr"/>
          <a:lstStyle/>
          <a:p>
            <a:pPr marL="0" indent="0">
              <a:buNone/>
            </a:pPr>
            <a:r>
              <a:rPr lang="en-US" sz="1000" dirty="0">
                <a:solidFill>
                  <a:srgbClr val="6C7A89"/>
                </a:solidFill>
                <a:latin typeface="Calibri" pitchFamily="34" charset="0"/>
                <a:ea typeface="Calibri" pitchFamily="34" charset="-122"/>
                <a:cs typeface="Calibri" pitchFamily="34" charset="-120"/>
              </a:rPr>
              <a:t>Blue-white veil</a:t>
            </a:r>
            <a:endParaRPr lang="en-US" sz="1000" dirty="0"/>
          </a:p>
        </p:txBody>
      </p:sp>
      <p:sp>
        <p:nvSpPr>
          <p:cNvPr id="17" name="Shape 15"/>
          <p:cNvSpPr/>
          <p:nvPr/>
        </p:nvSpPr>
        <p:spPr>
          <a:xfrm>
            <a:off x="2148840" y="5623560"/>
            <a:ext cx="1463040" cy="621792"/>
          </a:xfrm>
          <a:prstGeom prst="rect">
            <a:avLst/>
          </a:prstGeom>
          <a:solidFill>
            <a:srgbClr val="FFFFFF"/>
          </a:solidFill>
          <a:ln w="6350">
            <a:solidFill>
              <a:srgbClr val="D9DEE3"/>
            </a:solidFill>
            <a:prstDash val="solid"/>
          </a:ln>
        </p:spPr>
        <p:txBody>
          <a:bodyPr/>
          <a:lstStyle/>
          <a:p>
            <a:endParaRPr lang="en-US"/>
          </a:p>
        </p:txBody>
      </p:sp>
      <p:sp>
        <p:nvSpPr>
          <p:cNvPr id="18" name="Shape 16"/>
          <p:cNvSpPr/>
          <p:nvPr/>
        </p:nvSpPr>
        <p:spPr>
          <a:xfrm>
            <a:off x="2148840" y="5623560"/>
            <a:ext cx="54864" cy="621792"/>
          </a:xfrm>
          <a:prstGeom prst="rect">
            <a:avLst/>
          </a:prstGeom>
          <a:solidFill>
            <a:srgbClr val="E87722"/>
          </a:solidFill>
          <a:ln/>
        </p:spPr>
        <p:txBody>
          <a:bodyPr/>
          <a:lstStyle/>
          <a:p>
            <a:endParaRPr lang="en-US"/>
          </a:p>
        </p:txBody>
      </p:sp>
      <p:sp>
        <p:nvSpPr>
          <p:cNvPr id="19" name="Text 17"/>
          <p:cNvSpPr/>
          <p:nvPr/>
        </p:nvSpPr>
        <p:spPr>
          <a:xfrm>
            <a:off x="2240280" y="5623560"/>
            <a:ext cx="1325880" cy="320040"/>
          </a:xfrm>
          <a:prstGeom prst="rect">
            <a:avLst/>
          </a:prstGeom>
          <a:noFill/>
          <a:ln/>
        </p:spPr>
        <p:txBody>
          <a:bodyPr wrap="square" lIns="0" tIns="0" rIns="0" bIns="0" rtlCol="0" anchor="ctr"/>
          <a:lstStyle/>
          <a:p>
            <a:pPr marL="0" indent="0">
              <a:buNone/>
            </a:pPr>
            <a:r>
              <a:rPr lang="en-US" sz="1500" b="1" dirty="0">
                <a:solidFill>
                  <a:srgbClr val="E87722"/>
                </a:solidFill>
                <a:latin typeface="Georgia" pitchFamily="34" charset="0"/>
                <a:ea typeface="Georgia" pitchFamily="34" charset="-122"/>
                <a:cs typeface="Georgia" pitchFamily="34" charset="-120"/>
              </a:rPr>
              <a:t>55.7 %</a:t>
            </a:r>
            <a:endParaRPr lang="en-US" sz="1500" dirty="0"/>
          </a:p>
        </p:txBody>
      </p:sp>
      <p:sp>
        <p:nvSpPr>
          <p:cNvPr id="20" name="Text 18"/>
          <p:cNvSpPr/>
          <p:nvPr/>
        </p:nvSpPr>
        <p:spPr>
          <a:xfrm>
            <a:off x="2240280" y="5925312"/>
            <a:ext cx="1325880" cy="292608"/>
          </a:xfrm>
          <a:prstGeom prst="rect">
            <a:avLst/>
          </a:prstGeom>
          <a:noFill/>
          <a:ln/>
        </p:spPr>
        <p:txBody>
          <a:bodyPr wrap="square" lIns="0" tIns="0" rIns="0" bIns="0" rtlCol="0" anchor="ctr"/>
          <a:lstStyle/>
          <a:p>
            <a:pPr marL="0" indent="0">
              <a:buNone/>
            </a:pPr>
            <a:r>
              <a:rPr lang="en-US" sz="1000" dirty="0">
                <a:solidFill>
                  <a:srgbClr val="6C7A89"/>
                </a:solidFill>
                <a:latin typeface="Calibri" pitchFamily="34" charset="0"/>
                <a:ea typeface="Calibri" pitchFamily="34" charset="-122"/>
                <a:cs typeface="Calibri" pitchFamily="34" charset="-120"/>
              </a:rPr>
              <a:t>Vascular</a:t>
            </a:r>
            <a:endParaRPr lang="en-US" sz="1000" dirty="0"/>
          </a:p>
        </p:txBody>
      </p:sp>
      <p:sp>
        <p:nvSpPr>
          <p:cNvPr id="21" name="Shape 19"/>
          <p:cNvSpPr/>
          <p:nvPr/>
        </p:nvSpPr>
        <p:spPr>
          <a:xfrm>
            <a:off x="3749040" y="5623560"/>
            <a:ext cx="1463040" cy="621792"/>
          </a:xfrm>
          <a:prstGeom prst="rect">
            <a:avLst/>
          </a:prstGeom>
          <a:solidFill>
            <a:srgbClr val="FFFFFF"/>
          </a:solidFill>
          <a:ln w="6350">
            <a:solidFill>
              <a:srgbClr val="D9DEE3"/>
            </a:solidFill>
            <a:prstDash val="solid"/>
          </a:ln>
        </p:spPr>
        <p:txBody>
          <a:bodyPr/>
          <a:lstStyle/>
          <a:p>
            <a:endParaRPr lang="en-US"/>
          </a:p>
        </p:txBody>
      </p:sp>
      <p:sp>
        <p:nvSpPr>
          <p:cNvPr id="22" name="Shape 20"/>
          <p:cNvSpPr/>
          <p:nvPr/>
        </p:nvSpPr>
        <p:spPr>
          <a:xfrm>
            <a:off x="3749040" y="5623560"/>
            <a:ext cx="54864" cy="621792"/>
          </a:xfrm>
          <a:prstGeom prst="rect">
            <a:avLst/>
          </a:prstGeom>
          <a:solidFill>
            <a:srgbClr val="2F3C5C"/>
          </a:solidFill>
          <a:ln/>
        </p:spPr>
        <p:txBody>
          <a:bodyPr/>
          <a:lstStyle/>
          <a:p>
            <a:endParaRPr lang="en-US"/>
          </a:p>
        </p:txBody>
      </p:sp>
      <p:sp>
        <p:nvSpPr>
          <p:cNvPr id="23" name="Text 21"/>
          <p:cNvSpPr/>
          <p:nvPr/>
        </p:nvSpPr>
        <p:spPr>
          <a:xfrm>
            <a:off x="3840480" y="5623560"/>
            <a:ext cx="1325880" cy="320040"/>
          </a:xfrm>
          <a:prstGeom prst="rect">
            <a:avLst/>
          </a:prstGeom>
          <a:noFill/>
          <a:ln/>
        </p:spPr>
        <p:txBody>
          <a:bodyPr wrap="square" lIns="0" tIns="0" rIns="0" bIns="0" rtlCol="0" anchor="ctr"/>
          <a:lstStyle/>
          <a:p>
            <a:pPr marL="0" indent="0">
              <a:buNone/>
            </a:pPr>
            <a:r>
              <a:rPr lang="en-US" sz="1500" b="1" dirty="0">
                <a:solidFill>
                  <a:srgbClr val="2F3C5C"/>
                </a:solidFill>
                <a:latin typeface="Georgia" pitchFamily="34" charset="0"/>
                <a:ea typeface="Georgia" pitchFamily="34" charset="-122"/>
                <a:cs typeface="Georgia" pitchFamily="34" charset="-120"/>
              </a:rPr>
              <a:t>17.3 %</a:t>
            </a:r>
            <a:endParaRPr lang="en-US" sz="1500" dirty="0"/>
          </a:p>
        </p:txBody>
      </p:sp>
      <p:sp>
        <p:nvSpPr>
          <p:cNvPr id="24" name="Text 22"/>
          <p:cNvSpPr/>
          <p:nvPr/>
        </p:nvSpPr>
        <p:spPr>
          <a:xfrm>
            <a:off x="3840480" y="5925312"/>
            <a:ext cx="1325880" cy="292608"/>
          </a:xfrm>
          <a:prstGeom prst="rect">
            <a:avLst/>
          </a:prstGeom>
          <a:noFill/>
          <a:ln/>
        </p:spPr>
        <p:txBody>
          <a:bodyPr wrap="square" lIns="0" tIns="0" rIns="0" bIns="0" rtlCol="0" anchor="ctr"/>
          <a:lstStyle/>
          <a:p>
            <a:pPr marL="0" indent="0">
              <a:buNone/>
            </a:pPr>
            <a:r>
              <a:rPr lang="en-US" sz="1000" dirty="0">
                <a:solidFill>
                  <a:srgbClr val="6C7A89"/>
                </a:solidFill>
                <a:latin typeface="Calibri" pitchFamily="34" charset="0"/>
                <a:ea typeface="Calibri" pitchFamily="34" charset="-122"/>
                <a:cs typeface="Calibri" pitchFamily="34" charset="-120"/>
              </a:rPr>
              <a:t>Pigment network</a:t>
            </a:r>
            <a:endParaRPr lang="en-US" sz="1000" dirty="0"/>
          </a:p>
        </p:txBody>
      </p:sp>
      <p:pic>
        <p:nvPicPr>
          <p:cNvPr id="25" name="Image 0" descr="/sessions/focused-elegant-hawking/mnt/AIH Final/vlm-cbm-derm-fairness/outputs/figures/fig5_intervention_rescue.png"/>
          <p:cNvPicPr>
            <a:picLocks noChangeAspect="1"/>
          </p:cNvPicPr>
          <p:nvPr/>
        </p:nvPicPr>
        <p:blipFill>
          <a:blip r:embed="rId3"/>
          <a:srcRect/>
          <a:stretch/>
        </p:blipFill>
        <p:spPr>
          <a:xfrm>
            <a:off x="5486400" y="1508760"/>
            <a:ext cx="6400800" cy="47548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600" dirty="0">
                <a:solidFill>
                  <a:srgbClr val="BF5700"/>
                </a:solidFill>
                <a:latin typeface="Calibri" pitchFamily="34" charset="0"/>
                <a:ea typeface="Calibri" pitchFamily="34" charset="-122"/>
                <a:cs typeface="Calibri" pitchFamily="34" charset="-120"/>
              </a:rPr>
              <a:t>Q4  ·  FAITHFULNESS</a:t>
            </a:r>
            <a:endParaRPr lang="en-US" sz="1100" dirty="0"/>
          </a:p>
        </p:txBody>
      </p:sp>
      <p:sp>
        <p:nvSpPr>
          <p:cNvPr id="3" name="Text 1"/>
          <p:cNvSpPr/>
          <p:nvPr/>
        </p:nvSpPr>
        <p:spPr>
          <a:xfrm>
            <a:off x="548640" y="713232"/>
            <a:ext cx="11155680" cy="594360"/>
          </a:xfrm>
          <a:prstGeom prst="rect">
            <a:avLst/>
          </a:prstGeom>
          <a:noFill/>
          <a:ln/>
        </p:spPr>
        <p:txBody>
          <a:bodyPr wrap="square" lIns="0" tIns="0" rIns="0" bIns="0" rtlCol="0" anchor="ctr"/>
          <a:lstStyle/>
          <a:p>
            <a:pPr marL="0" indent="0">
              <a:buNone/>
            </a:pPr>
            <a:r>
              <a:rPr lang="en-US" sz="2600" b="1" dirty="0">
                <a:solidFill>
                  <a:srgbClr val="333F48"/>
                </a:solidFill>
                <a:latin typeface="Georgia" pitchFamily="34" charset="0"/>
                <a:ea typeface="Georgia" pitchFamily="34" charset="-122"/>
                <a:cs typeface="Georgia" pitchFamily="34" charset="-120"/>
              </a:rPr>
              <a:t>Concepts beat Grad-CAM on insertion</a:t>
            </a:r>
            <a:endParaRPr lang="en-US" sz="2600" dirty="0"/>
          </a:p>
        </p:txBody>
      </p:sp>
      <p:sp>
        <p:nvSpPr>
          <p:cNvPr id="4" name="Shape 2"/>
          <p:cNvSpPr/>
          <p:nvPr/>
        </p:nvSpPr>
        <p:spPr>
          <a:xfrm>
            <a:off x="548640" y="6473952"/>
            <a:ext cx="11064240" cy="0"/>
          </a:xfrm>
          <a:prstGeom prst="line">
            <a:avLst/>
          </a:prstGeom>
          <a:noFill/>
          <a:ln w="9525">
            <a:solidFill>
              <a:srgbClr val="D9DEE3"/>
            </a:solidFill>
            <a:prstDash val="solid"/>
          </a:ln>
        </p:spPr>
        <p:txBody>
          <a:bodyPr/>
          <a:lstStyle/>
          <a:p>
            <a:endParaRPr lang="en-US"/>
          </a:p>
        </p:txBody>
      </p:sp>
      <p:sp>
        <p:nvSpPr>
          <p:cNvPr id="5" name="Text 3"/>
          <p:cNvSpPr/>
          <p:nvPr/>
        </p:nvSpPr>
        <p:spPr>
          <a:xfrm>
            <a:off x="548640" y="6528816"/>
            <a:ext cx="7315200" cy="237744"/>
          </a:xfrm>
          <a:prstGeom prst="rect">
            <a:avLst/>
          </a:prstGeom>
          <a:noFill/>
          <a:ln/>
        </p:spPr>
        <p:txBody>
          <a:bodyPr wrap="square" lIns="0" tIns="0" rIns="0" bIns="0" rtlCol="0" anchor="ctr"/>
          <a:lstStyle/>
          <a:p>
            <a:pPr marL="0" indent="0">
              <a:buNone/>
            </a:pPr>
            <a:r>
              <a:rPr lang="en-US" sz="900" i="1" dirty="0">
                <a:solidFill>
                  <a:srgbClr val="6C7A89"/>
                </a:solidFill>
                <a:latin typeface="Calibri" pitchFamily="34" charset="0"/>
                <a:ea typeface="Calibri" pitchFamily="34" charset="-122"/>
                <a:cs typeface="Calibri" pitchFamily="34" charset="-120"/>
              </a:rPr>
              <a:t>VLM-CBM Dermatology  ·  Fitzpatrick Fairness Audit</a:t>
            </a:r>
            <a:endParaRPr lang="en-US" sz="900" dirty="0"/>
          </a:p>
        </p:txBody>
      </p:sp>
      <p:sp>
        <p:nvSpPr>
          <p:cNvPr id="6" name="Text 4"/>
          <p:cNvSpPr/>
          <p:nvPr/>
        </p:nvSpPr>
        <p:spPr>
          <a:xfrm>
            <a:off x="7863840" y="6528816"/>
            <a:ext cx="3200400" cy="237744"/>
          </a:xfrm>
          <a:prstGeom prst="rect">
            <a:avLst/>
          </a:prstGeom>
          <a:noFill/>
          <a:ln/>
        </p:spPr>
        <p:txBody>
          <a:bodyPr wrap="square" lIns="0" tIns="0" rIns="0" bIns="0" rtlCol="0" anchor="ctr"/>
          <a:lstStyle/>
          <a:p>
            <a:pPr marL="0" indent="0" algn="r">
              <a:buNone/>
            </a:pPr>
            <a:r>
              <a:rPr lang="en-US" sz="900" i="1" dirty="0">
                <a:solidFill>
                  <a:srgbClr val="6C7A89"/>
                </a:solidFill>
                <a:latin typeface="Calibri" pitchFamily="34" charset="0"/>
                <a:ea typeface="Calibri" pitchFamily="34" charset="-122"/>
                <a:cs typeface="Calibri" pitchFamily="34" charset="-120"/>
              </a:rPr>
              <a:t>Deepesh Khanna  ·  UT Austin</a:t>
            </a:r>
            <a:endParaRPr lang="en-US" sz="900" dirty="0"/>
          </a:p>
        </p:txBody>
      </p:sp>
      <p:sp>
        <p:nvSpPr>
          <p:cNvPr id="7" name="Text 5"/>
          <p:cNvSpPr/>
          <p:nvPr/>
        </p:nvSpPr>
        <p:spPr>
          <a:xfrm>
            <a:off x="11430000" y="6528816"/>
            <a:ext cx="274320" cy="237744"/>
          </a:xfrm>
          <a:prstGeom prst="rect">
            <a:avLst/>
          </a:prstGeom>
          <a:noFill/>
          <a:ln/>
        </p:spPr>
        <p:txBody>
          <a:bodyPr wrap="square" lIns="0" tIns="0" rIns="0" bIns="0" rtlCol="0" anchor="ctr"/>
          <a:lstStyle/>
          <a:p>
            <a:pPr marL="0" indent="0" algn="r">
              <a:buNone/>
            </a:pPr>
            <a:r>
              <a:rPr lang="en-US" sz="900" b="1" dirty="0">
                <a:solidFill>
                  <a:srgbClr val="BF5700"/>
                </a:solidFill>
                <a:latin typeface="Calibri" pitchFamily="34" charset="0"/>
                <a:ea typeface="Calibri" pitchFamily="34" charset="-122"/>
                <a:cs typeface="Calibri" pitchFamily="34" charset="-120"/>
              </a:rPr>
              <a:t>9</a:t>
            </a:r>
            <a:endParaRPr lang="en-US" sz="900" dirty="0"/>
          </a:p>
        </p:txBody>
      </p:sp>
      <p:pic>
        <p:nvPicPr>
          <p:cNvPr id="8" name="Image 0" descr="/sessions/focused-elegant-hawking/mnt/AIH Final/vlm-cbm-derm-fairness/outputs/figures/fig7_faithfulness.png"/>
          <p:cNvPicPr>
            <a:picLocks noChangeAspect="1"/>
          </p:cNvPicPr>
          <p:nvPr/>
        </p:nvPicPr>
        <p:blipFill>
          <a:blip r:embed="rId3"/>
          <a:srcRect/>
          <a:stretch/>
        </p:blipFill>
        <p:spPr>
          <a:xfrm>
            <a:off x="548640" y="1508760"/>
            <a:ext cx="7132320" cy="4572000"/>
          </a:xfrm>
          <a:prstGeom prst="rect">
            <a:avLst/>
          </a:prstGeom>
        </p:spPr>
      </p:pic>
      <p:sp>
        <p:nvSpPr>
          <p:cNvPr id="9" name="Shape 6"/>
          <p:cNvSpPr/>
          <p:nvPr/>
        </p:nvSpPr>
        <p:spPr>
          <a:xfrm>
            <a:off x="7909560" y="1600200"/>
            <a:ext cx="3977640" cy="1965960"/>
          </a:xfrm>
          <a:prstGeom prst="rect">
            <a:avLst/>
          </a:prstGeom>
          <a:solidFill>
            <a:srgbClr val="FDF0E3"/>
          </a:solidFill>
          <a:ln w="9525">
            <a:solidFill>
              <a:srgbClr val="D9DEE3"/>
            </a:solidFill>
            <a:prstDash val="solid"/>
          </a:ln>
        </p:spPr>
        <p:txBody>
          <a:bodyPr/>
          <a:lstStyle/>
          <a:p>
            <a:endParaRPr lang="en-US"/>
          </a:p>
        </p:txBody>
      </p:sp>
      <p:sp>
        <p:nvSpPr>
          <p:cNvPr id="10" name="Shape 7"/>
          <p:cNvSpPr/>
          <p:nvPr/>
        </p:nvSpPr>
        <p:spPr>
          <a:xfrm>
            <a:off x="7909560" y="1600200"/>
            <a:ext cx="73152" cy="1965960"/>
          </a:xfrm>
          <a:prstGeom prst="rect">
            <a:avLst/>
          </a:prstGeom>
          <a:solidFill>
            <a:srgbClr val="BF5700"/>
          </a:solidFill>
          <a:ln/>
        </p:spPr>
        <p:txBody>
          <a:bodyPr/>
          <a:lstStyle/>
          <a:p>
            <a:endParaRPr lang="en-US"/>
          </a:p>
        </p:txBody>
      </p:sp>
      <p:sp>
        <p:nvSpPr>
          <p:cNvPr id="11" name="Text 8"/>
          <p:cNvSpPr/>
          <p:nvPr/>
        </p:nvSpPr>
        <p:spPr>
          <a:xfrm>
            <a:off x="8092440" y="1737360"/>
            <a:ext cx="3657600" cy="365760"/>
          </a:xfrm>
          <a:prstGeom prst="rect">
            <a:avLst/>
          </a:prstGeom>
          <a:noFill/>
          <a:ln/>
        </p:spPr>
        <p:txBody>
          <a:bodyPr wrap="square" lIns="0" tIns="0" rIns="0" bIns="0" rtlCol="0" anchor="ctr"/>
          <a:lstStyle/>
          <a:p>
            <a:pPr marL="0" indent="0">
              <a:buNone/>
            </a:pPr>
            <a:r>
              <a:rPr lang="en-US" sz="1300" b="1" kern="0" spc="200" dirty="0">
                <a:solidFill>
                  <a:srgbClr val="333F48"/>
                </a:solidFill>
                <a:latin typeface="Calibri" pitchFamily="34" charset="0"/>
                <a:ea typeface="Calibri" pitchFamily="34" charset="-122"/>
                <a:cs typeface="Calibri" pitchFamily="34" charset="-120"/>
              </a:rPr>
              <a:t>CBM concepts</a:t>
            </a:r>
            <a:endParaRPr lang="en-US" sz="1300" dirty="0"/>
          </a:p>
        </p:txBody>
      </p:sp>
      <p:sp>
        <p:nvSpPr>
          <p:cNvPr id="12" name="Text 9"/>
          <p:cNvSpPr/>
          <p:nvPr/>
        </p:nvSpPr>
        <p:spPr>
          <a:xfrm>
            <a:off x="8092440" y="2103120"/>
            <a:ext cx="3657600" cy="1051560"/>
          </a:xfrm>
          <a:prstGeom prst="rect">
            <a:avLst/>
          </a:prstGeom>
          <a:noFill/>
          <a:ln/>
        </p:spPr>
        <p:txBody>
          <a:bodyPr wrap="square" lIns="0" tIns="0" rIns="0" bIns="0" rtlCol="0" anchor="ctr"/>
          <a:lstStyle/>
          <a:p>
            <a:pPr marL="0" indent="0" algn="l">
              <a:buNone/>
            </a:pPr>
            <a:r>
              <a:rPr lang="en-US" sz="6000" b="1" dirty="0">
                <a:solidFill>
                  <a:srgbClr val="BF5700"/>
                </a:solidFill>
                <a:latin typeface="Georgia" pitchFamily="34" charset="0"/>
                <a:ea typeface="Georgia" pitchFamily="34" charset="-122"/>
                <a:cs typeface="Georgia" pitchFamily="34" charset="-120"/>
              </a:rPr>
              <a:t>0.33</a:t>
            </a:r>
            <a:endParaRPr lang="en-US" sz="6000" dirty="0"/>
          </a:p>
        </p:txBody>
      </p:sp>
      <p:sp>
        <p:nvSpPr>
          <p:cNvPr id="13" name="Text 10"/>
          <p:cNvSpPr/>
          <p:nvPr/>
        </p:nvSpPr>
        <p:spPr>
          <a:xfrm>
            <a:off x="8092440" y="3108960"/>
            <a:ext cx="3657600" cy="274320"/>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Insertion AUC  (higher is more faithful)</a:t>
            </a:r>
            <a:endParaRPr lang="en-US" sz="1050" dirty="0"/>
          </a:p>
        </p:txBody>
      </p:sp>
      <p:sp>
        <p:nvSpPr>
          <p:cNvPr id="14" name="Text 11"/>
          <p:cNvSpPr/>
          <p:nvPr/>
        </p:nvSpPr>
        <p:spPr>
          <a:xfrm>
            <a:off x="8092440" y="3319272"/>
            <a:ext cx="3657600" cy="228600"/>
          </a:xfrm>
          <a:prstGeom prst="rect">
            <a:avLst/>
          </a:prstGeom>
          <a:noFill/>
          <a:ln/>
        </p:spPr>
        <p:txBody>
          <a:bodyPr wrap="square" lIns="0" tIns="0" rIns="0" bIns="0" rtlCol="0" anchor="ctr"/>
          <a:lstStyle/>
          <a:p>
            <a:pPr marL="0" indent="0">
              <a:buNone/>
            </a:pPr>
            <a:r>
              <a:rPr lang="en-US" sz="1000" i="1" dirty="0">
                <a:solidFill>
                  <a:srgbClr val="6C7A89"/>
                </a:solidFill>
                <a:latin typeface="Calibri" pitchFamily="34" charset="0"/>
                <a:ea typeface="Calibri" pitchFamily="34" charset="-122"/>
                <a:cs typeface="Calibri" pitchFamily="34" charset="-120"/>
              </a:rPr>
              <a:t>dominant explanation</a:t>
            </a:r>
            <a:endParaRPr lang="en-US" sz="1000" dirty="0"/>
          </a:p>
        </p:txBody>
      </p:sp>
      <p:sp>
        <p:nvSpPr>
          <p:cNvPr id="15" name="Shape 12"/>
          <p:cNvSpPr/>
          <p:nvPr/>
        </p:nvSpPr>
        <p:spPr>
          <a:xfrm>
            <a:off x="7909560" y="3794760"/>
            <a:ext cx="3977640" cy="1965960"/>
          </a:xfrm>
          <a:prstGeom prst="rect">
            <a:avLst/>
          </a:prstGeom>
          <a:solidFill>
            <a:srgbClr val="FFFFFF"/>
          </a:solidFill>
          <a:ln w="9525">
            <a:solidFill>
              <a:srgbClr val="D9DEE3"/>
            </a:solidFill>
            <a:prstDash val="solid"/>
          </a:ln>
        </p:spPr>
        <p:txBody>
          <a:bodyPr/>
          <a:lstStyle/>
          <a:p>
            <a:endParaRPr lang="en-US"/>
          </a:p>
        </p:txBody>
      </p:sp>
      <p:sp>
        <p:nvSpPr>
          <p:cNvPr id="16" name="Shape 13"/>
          <p:cNvSpPr/>
          <p:nvPr/>
        </p:nvSpPr>
        <p:spPr>
          <a:xfrm>
            <a:off x="7909560" y="3794760"/>
            <a:ext cx="73152" cy="1965960"/>
          </a:xfrm>
          <a:prstGeom prst="rect">
            <a:avLst/>
          </a:prstGeom>
          <a:solidFill>
            <a:srgbClr val="2F3C5C"/>
          </a:solidFill>
          <a:ln/>
        </p:spPr>
        <p:txBody>
          <a:bodyPr/>
          <a:lstStyle/>
          <a:p>
            <a:endParaRPr lang="en-US"/>
          </a:p>
        </p:txBody>
      </p:sp>
      <p:sp>
        <p:nvSpPr>
          <p:cNvPr id="17" name="Text 14"/>
          <p:cNvSpPr/>
          <p:nvPr/>
        </p:nvSpPr>
        <p:spPr>
          <a:xfrm>
            <a:off x="8092440" y="3931920"/>
            <a:ext cx="3657600" cy="365760"/>
          </a:xfrm>
          <a:prstGeom prst="rect">
            <a:avLst/>
          </a:prstGeom>
          <a:noFill/>
          <a:ln/>
        </p:spPr>
        <p:txBody>
          <a:bodyPr wrap="square" lIns="0" tIns="0" rIns="0" bIns="0" rtlCol="0" anchor="ctr"/>
          <a:lstStyle/>
          <a:p>
            <a:pPr marL="0" indent="0">
              <a:buNone/>
            </a:pPr>
            <a:r>
              <a:rPr lang="en-US" sz="1300" b="1" kern="0" spc="200" dirty="0">
                <a:solidFill>
                  <a:srgbClr val="333F48"/>
                </a:solidFill>
                <a:latin typeface="Calibri" pitchFamily="34" charset="0"/>
                <a:ea typeface="Calibri" pitchFamily="34" charset="-122"/>
                <a:cs typeface="Calibri" pitchFamily="34" charset="-120"/>
              </a:rPr>
              <a:t>Grad-CAM</a:t>
            </a:r>
            <a:endParaRPr lang="en-US" sz="1300" dirty="0"/>
          </a:p>
        </p:txBody>
      </p:sp>
      <p:sp>
        <p:nvSpPr>
          <p:cNvPr id="18" name="Text 15"/>
          <p:cNvSpPr/>
          <p:nvPr/>
        </p:nvSpPr>
        <p:spPr>
          <a:xfrm>
            <a:off x="8092440" y="4297680"/>
            <a:ext cx="3657600" cy="1051560"/>
          </a:xfrm>
          <a:prstGeom prst="rect">
            <a:avLst/>
          </a:prstGeom>
          <a:noFill/>
          <a:ln/>
        </p:spPr>
        <p:txBody>
          <a:bodyPr wrap="square" lIns="0" tIns="0" rIns="0" bIns="0" rtlCol="0" anchor="ctr"/>
          <a:lstStyle/>
          <a:p>
            <a:pPr marL="0" indent="0" algn="l">
              <a:buNone/>
            </a:pPr>
            <a:r>
              <a:rPr lang="en-US" sz="6000" b="1" dirty="0">
                <a:solidFill>
                  <a:srgbClr val="2F3C5C"/>
                </a:solidFill>
                <a:latin typeface="Georgia" pitchFamily="34" charset="0"/>
                <a:ea typeface="Georgia" pitchFamily="34" charset="-122"/>
                <a:cs typeface="Georgia" pitchFamily="34" charset="-120"/>
              </a:rPr>
              <a:t>0.20</a:t>
            </a:r>
            <a:endParaRPr lang="en-US" sz="6000" dirty="0"/>
          </a:p>
        </p:txBody>
      </p:sp>
      <p:sp>
        <p:nvSpPr>
          <p:cNvPr id="19" name="Text 16"/>
          <p:cNvSpPr/>
          <p:nvPr/>
        </p:nvSpPr>
        <p:spPr>
          <a:xfrm>
            <a:off x="8092440" y="5303520"/>
            <a:ext cx="3657600" cy="274320"/>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Insertion AUC (baseline saliency method)</a:t>
            </a:r>
            <a:endParaRPr lang="en-US" sz="1050" dirty="0"/>
          </a:p>
        </p:txBody>
      </p:sp>
      <p:sp>
        <p:nvSpPr>
          <p:cNvPr id="20" name="Text 17"/>
          <p:cNvSpPr/>
          <p:nvPr/>
        </p:nvSpPr>
        <p:spPr>
          <a:xfrm>
            <a:off x="8092440" y="5513832"/>
            <a:ext cx="3657600" cy="228600"/>
          </a:xfrm>
          <a:prstGeom prst="rect">
            <a:avLst/>
          </a:prstGeom>
          <a:noFill/>
          <a:ln/>
        </p:spPr>
        <p:txBody>
          <a:bodyPr wrap="square" lIns="0" tIns="0" rIns="0" bIns="0" rtlCol="0" anchor="ctr"/>
          <a:lstStyle/>
          <a:p>
            <a:pPr marL="0" indent="0">
              <a:buNone/>
            </a:pPr>
            <a:r>
              <a:rPr lang="en-US" sz="1000" i="1" dirty="0">
                <a:solidFill>
                  <a:srgbClr val="6C7A89"/>
                </a:solidFill>
                <a:latin typeface="Calibri" pitchFamily="34" charset="0"/>
                <a:ea typeface="Calibri" pitchFamily="34" charset="-122"/>
                <a:cs typeface="Calibri" pitchFamily="34" charset="-120"/>
              </a:rPr>
              <a:t>insertion-AUC loss = 0.13</a:t>
            </a:r>
            <a:endParaRPr lang="en-US" sz="1000" dirty="0"/>
          </a:p>
        </p:txBody>
      </p:sp>
      <p:sp>
        <p:nvSpPr>
          <p:cNvPr id="21" name="Text 18"/>
          <p:cNvSpPr/>
          <p:nvPr/>
        </p:nvSpPr>
        <p:spPr>
          <a:xfrm>
            <a:off x="548640" y="6217920"/>
            <a:ext cx="11247120" cy="320040"/>
          </a:xfrm>
          <a:prstGeom prst="rect">
            <a:avLst/>
          </a:prstGeom>
          <a:noFill/>
          <a:ln/>
        </p:spPr>
        <p:txBody>
          <a:bodyPr wrap="square" lIns="0" tIns="0" rIns="0" bIns="0" rtlCol="0" anchor="ctr"/>
          <a:lstStyle/>
          <a:p>
            <a:pPr marL="0" indent="0" algn="ctr">
              <a:buNone/>
            </a:pPr>
            <a:r>
              <a:rPr lang="en-US" sz="1100" i="1" dirty="0">
                <a:solidFill>
                  <a:srgbClr val="6C7A89"/>
                </a:solidFill>
                <a:latin typeface="Calibri" pitchFamily="34" charset="0"/>
                <a:ea typeface="Calibri" pitchFamily="34" charset="-122"/>
                <a:cs typeface="Calibri" pitchFamily="34" charset="-120"/>
              </a:rPr>
              <a:t>Deletion AUC is confounded by calibration differences and insertion is the decisive comparison.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600" dirty="0">
                <a:solidFill>
                  <a:srgbClr val="BF5700"/>
                </a:solidFill>
                <a:latin typeface="Calibri" pitchFamily="34" charset="0"/>
                <a:ea typeface="Calibri" pitchFamily="34" charset="-122"/>
                <a:cs typeface="Calibri" pitchFamily="34" charset="-120"/>
              </a:rPr>
              <a:t>HONEST ACCOUNTING</a:t>
            </a:r>
            <a:endParaRPr lang="en-US" sz="1100" dirty="0"/>
          </a:p>
        </p:txBody>
      </p:sp>
      <p:sp>
        <p:nvSpPr>
          <p:cNvPr id="3" name="Text 1"/>
          <p:cNvSpPr/>
          <p:nvPr/>
        </p:nvSpPr>
        <p:spPr>
          <a:xfrm>
            <a:off x="548640" y="713232"/>
            <a:ext cx="11155680" cy="594360"/>
          </a:xfrm>
          <a:prstGeom prst="rect">
            <a:avLst/>
          </a:prstGeom>
          <a:noFill/>
          <a:ln/>
        </p:spPr>
        <p:txBody>
          <a:bodyPr wrap="square" lIns="0" tIns="0" rIns="0" bIns="0" rtlCol="0" anchor="ctr"/>
          <a:lstStyle/>
          <a:p>
            <a:pPr marL="0" indent="0">
              <a:buNone/>
            </a:pPr>
            <a:r>
              <a:rPr lang="en-US" sz="2600" b="1" dirty="0">
                <a:solidFill>
                  <a:srgbClr val="333F48"/>
                </a:solidFill>
                <a:latin typeface="Georgia" pitchFamily="34" charset="0"/>
                <a:ea typeface="Georgia" pitchFamily="34" charset="-122"/>
                <a:cs typeface="Georgia" pitchFamily="34" charset="-120"/>
              </a:rPr>
              <a:t>Limitations and next steps</a:t>
            </a:r>
            <a:endParaRPr lang="en-US" sz="2600" dirty="0"/>
          </a:p>
        </p:txBody>
      </p:sp>
      <p:sp>
        <p:nvSpPr>
          <p:cNvPr id="4" name="Shape 2"/>
          <p:cNvSpPr/>
          <p:nvPr/>
        </p:nvSpPr>
        <p:spPr>
          <a:xfrm>
            <a:off x="548640" y="6473952"/>
            <a:ext cx="11064240" cy="0"/>
          </a:xfrm>
          <a:prstGeom prst="line">
            <a:avLst/>
          </a:prstGeom>
          <a:noFill/>
          <a:ln w="9525">
            <a:solidFill>
              <a:srgbClr val="D9DEE3"/>
            </a:solidFill>
            <a:prstDash val="solid"/>
          </a:ln>
        </p:spPr>
        <p:txBody>
          <a:bodyPr/>
          <a:lstStyle/>
          <a:p>
            <a:endParaRPr lang="en-US"/>
          </a:p>
        </p:txBody>
      </p:sp>
      <p:sp>
        <p:nvSpPr>
          <p:cNvPr id="5" name="Text 3"/>
          <p:cNvSpPr/>
          <p:nvPr/>
        </p:nvSpPr>
        <p:spPr>
          <a:xfrm>
            <a:off x="548640" y="6528816"/>
            <a:ext cx="7315200" cy="237744"/>
          </a:xfrm>
          <a:prstGeom prst="rect">
            <a:avLst/>
          </a:prstGeom>
          <a:noFill/>
          <a:ln/>
        </p:spPr>
        <p:txBody>
          <a:bodyPr wrap="square" lIns="0" tIns="0" rIns="0" bIns="0" rtlCol="0" anchor="ctr"/>
          <a:lstStyle/>
          <a:p>
            <a:pPr marL="0" indent="0">
              <a:buNone/>
            </a:pPr>
            <a:r>
              <a:rPr lang="en-US" sz="900" i="1" dirty="0">
                <a:solidFill>
                  <a:srgbClr val="6C7A89"/>
                </a:solidFill>
                <a:latin typeface="Calibri" pitchFamily="34" charset="0"/>
                <a:ea typeface="Calibri" pitchFamily="34" charset="-122"/>
                <a:cs typeface="Calibri" pitchFamily="34" charset="-120"/>
              </a:rPr>
              <a:t>VLM-CBM Dermatology  ·  Fitzpatrick Fairness Audit</a:t>
            </a:r>
            <a:endParaRPr lang="en-US" sz="900" dirty="0"/>
          </a:p>
        </p:txBody>
      </p:sp>
      <p:sp>
        <p:nvSpPr>
          <p:cNvPr id="6" name="Text 4"/>
          <p:cNvSpPr/>
          <p:nvPr/>
        </p:nvSpPr>
        <p:spPr>
          <a:xfrm>
            <a:off x="7863840" y="6528816"/>
            <a:ext cx="3200400" cy="237744"/>
          </a:xfrm>
          <a:prstGeom prst="rect">
            <a:avLst/>
          </a:prstGeom>
          <a:noFill/>
          <a:ln/>
        </p:spPr>
        <p:txBody>
          <a:bodyPr wrap="square" lIns="0" tIns="0" rIns="0" bIns="0" rtlCol="0" anchor="ctr"/>
          <a:lstStyle/>
          <a:p>
            <a:pPr marL="0" indent="0" algn="r">
              <a:buNone/>
            </a:pPr>
            <a:r>
              <a:rPr lang="en-US" sz="900" i="1" dirty="0">
                <a:solidFill>
                  <a:srgbClr val="6C7A89"/>
                </a:solidFill>
                <a:latin typeface="Calibri" pitchFamily="34" charset="0"/>
                <a:ea typeface="Calibri" pitchFamily="34" charset="-122"/>
                <a:cs typeface="Calibri" pitchFamily="34" charset="-120"/>
              </a:rPr>
              <a:t>Deepesh Khanna  ·  UT Austin</a:t>
            </a:r>
            <a:endParaRPr lang="en-US" sz="900" dirty="0"/>
          </a:p>
        </p:txBody>
      </p:sp>
      <p:sp>
        <p:nvSpPr>
          <p:cNvPr id="7" name="Text 5"/>
          <p:cNvSpPr/>
          <p:nvPr/>
        </p:nvSpPr>
        <p:spPr>
          <a:xfrm>
            <a:off x="11430000" y="6528816"/>
            <a:ext cx="274320" cy="237744"/>
          </a:xfrm>
          <a:prstGeom prst="rect">
            <a:avLst/>
          </a:prstGeom>
          <a:noFill/>
          <a:ln/>
        </p:spPr>
        <p:txBody>
          <a:bodyPr wrap="square" lIns="0" tIns="0" rIns="0" bIns="0" rtlCol="0" anchor="ctr"/>
          <a:lstStyle/>
          <a:p>
            <a:pPr marL="0" indent="0" algn="r">
              <a:buNone/>
            </a:pPr>
            <a:r>
              <a:rPr lang="en-US" sz="900" b="1" dirty="0">
                <a:solidFill>
                  <a:srgbClr val="BF5700"/>
                </a:solidFill>
                <a:latin typeface="Calibri" pitchFamily="34" charset="0"/>
                <a:ea typeface="Calibri" pitchFamily="34" charset="-122"/>
                <a:cs typeface="Calibri" pitchFamily="34" charset="-120"/>
              </a:rPr>
              <a:t>10</a:t>
            </a:r>
            <a:endParaRPr lang="en-US" sz="900" dirty="0"/>
          </a:p>
        </p:txBody>
      </p:sp>
      <p:sp>
        <p:nvSpPr>
          <p:cNvPr id="8" name="Text 6"/>
          <p:cNvSpPr/>
          <p:nvPr/>
        </p:nvSpPr>
        <p:spPr>
          <a:xfrm>
            <a:off x="548640" y="1508760"/>
            <a:ext cx="5486400" cy="457200"/>
          </a:xfrm>
          <a:prstGeom prst="rect">
            <a:avLst/>
          </a:prstGeom>
          <a:noFill/>
          <a:ln/>
        </p:spPr>
        <p:txBody>
          <a:bodyPr wrap="square" lIns="0" tIns="0" rIns="0" bIns="0" rtlCol="0" anchor="ctr"/>
          <a:lstStyle/>
          <a:p>
            <a:pPr marL="0" indent="0">
              <a:buNone/>
            </a:pPr>
            <a:r>
              <a:rPr lang="en-US" sz="2000" b="1" dirty="0">
                <a:solidFill>
                  <a:srgbClr val="333F48"/>
                </a:solidFill>
                <a:latin typeface="Georgia" pitchFamily="34" charset="0"/>
                <a:ea typeface="Georgia" pitchFamily="34" charset="-122"/>
                <a:cs typeface="Georgia" pitchFamily="34" charset="-120"/>
              </a:rPr>
              <a:t>Limitations</a:t>
            </a:r>
            <a:endParaRPr lang="en-US" sz="2000" dirty="0"/>
          </a:p>
        </p:txBody>
      </p:sp>
      <p:sp>
        <p:nvSpPr>
          <p:cNvPr id="9" name="Shape 7"/>
          <p:cNvSpPr/>
          <p:nvPr/>
        </p:nvSpPr>
        <p:spPr>
          <a:xfrm>
            <a:off x="548640" y="2057400"/>
            <a:ext cx="5486400" cy="868680"/>
          </a:xfrm>
          <a:prstGeom prst="rect">
            <a:avLst/>
          </a:prstGeom>
          <a:solidFill>
            <a:srgbClr val="F8F3E6"/>
          </a:solidFill>
          <a:ln/>
        </p:spPr>
        <p:txBody>
          <a:bodyPr/>
          <a:lstStyle/>
          <a:p>
            <a:endParaRPr lang="en-US"/>
          </a:p>
        </p:txBody>
      </p:sp>
      <p:sp>
        <p:nvSpPr>
          <p:cNvPr id="10" name="Shape 8"/>
          <p:cNvSpPr/>
          <p:nvPr/>
        </p:nvSpPr>
        <p:spPr>
          <a:xfrm>
            <a:off x="548640" y="2057400"/>
            <a:ext cx="73152" cy="868680"/>
          </a:xfrm>
          <a:prstGeom prst="rect">
            <a:avLst/>
          </a:prstGeom>
          <a:solidFill>
            <a:srgbClr val="C8543D"/>
          </a:solidFill>
          <a:ln/>
        </p:spPr>
        <p:txBody>
          <a:bodyPr/>
          <a:lstStyle/>
          <a:p>
            <a:endParaRPr lang="en-US"/>
          </a:p>
        </p:txBody>
      </p:sp>
      <p:sp>
        <p:nvSpPr>
          <p:cNvPr id="11" name="Text 9"/>
          <p:cNvSpPr/>
          <p:nvPr/>
        </p:nvSpPr>
        <p:spPr>
          <a:xfrm>
            <a:off x="822960" y="2148840"/>
            <a:ext cx="5120640" cy="365760"/>
          </a:xfrm>
          <a:prstGeom prst="rect">
            <a:avLst/>
          </a:prstGeom>
          <a:noFill/>
          <a:ln/>
        </p:spPr>
        <p:txBody>
          <a:bodyPr wrap="square" lIns="0" tIns="0" rIns="0" bIns="0" rtlCol="0" anchor="ctr"/>
          <a:lstStyle/>
          <a:p>
            <a:pPr marL="0" indent="0">
              <a:buNone/>
            </a:pPr>
            <a:r>
              <a:rPr lang="en-US" sz="1300" b="1" dirty="0">
                <a:solidFill>
                  <a:srgbClr val="333F48"/>
                </a:solidFill>
                <a:latin typeface="Calibri" pitchFamily="34" charset="0"/>
                <a:ea typeface="Calibri" pitchFamily="34" charset="-122"/>
                <a:cs typeface="Calibri" pitchFamily="34" charset="-120"/>
              </a:rPr>
              <a:t>VLM zero-shot concepts are noisy</a:t>
            </a:r>
            <a:endParaRPr lang="en-US" sz="1300" dirty="0"/>
          </a:p>
        </p:txBody>
      </p:sp>
      <p:sp>
        <p:nvSpPr>
          <p:cNvPr id="12" name="Text 10"/>
          <p:cNvSpPr/>
          <p:nvPr/>
        </p:nvSpPr>
        <p:spPr>
          <a:xfrm>
            <a:off x="822960" y="2514600"/>
            <a:ext cx="5120640" cy="365760"/>
          </a:xfrm>
          <a:prstGeom prst="rect">
            <a:avLst/>
          </a:prstGeom>
          <a:noFill/>
          <a:ln/>
        </p:spPr>
        <p:txBody>
          <a:bodyPr wrap="square" lIns="0" tIns="0" rIns="0" bIns="0" rtlCol="0" anchor="ctr"/>
          <a:lstStyle/>
          <a:p>
            <a:pPr marL="0" indent="0">
              <a:buNone/>
            </a:pPr>
            <a:r>
              <a:rPr lang="en-US" sz="1200" i="1" dirty="0">
                <a:solidFill>
                  <a:srgbClr val="1A1A1A"/>
                </a:solidFill>
                <a:latin typeface="Calibri" pitchFamily="34" charset="0"/>
                <a:ea typeface="Calibri" pitchFamily="34" charset="-122"/>
                <a:cs typeface="Calibri" pitchFamily="34" charset="-120"/>
              </a:rPr>
              <a:t>Prompt-pair softmax is a weak concept classifier</a:t>
            </a:r>
            <a:endParaRPr lang="en-US" sz="1200" dirty="0"/>
          </a:p>
        </p:txBody>
      </p:sp>
      <p:sp>
        <p:nvSpPr>
          <p:cNvPr id="13" name="Shape 11"/>
          <p:cNvSpPr/>
          <p:nvPr/>
        </p:nvSpPr>
        <p:spPr>
          <a:xfrm>
            <a:off x="548640" y="3063240"/>
            <a:ext cx="5486400" cy="868680"/>
          </a:xfrm>
          <a:prstGeom prst="rect">
            <a:avLst/>
          </a:prstGeom>
          <a:solidFill>
            <a:srgbClr val="F8F3E6"/>
          </a:solidFill>
          <a:ln/>
        </p:spPr>
        <p:txBody>
          <a:bodyPr/>
          <a:lstStyle/>
          <a:p>
            <a:endParaRPr lang="en-US"/>
          </a:p>
        </p:txBody>
      </p:sp>
      <p:sp>
        <p:nvSpPr>
          <p:cNvPr id="14" name="Shape 12"/>
          <p:cNvSpPr/>
          <p:nvPr/>
        </p:nvSpPr>
        <p:spPr>
          <a:xfrm>
            <a:off x="548640" y="3063240"/>
            <a:ext cx="73152" cy="868680"/>
          </a:xfrm>
          <a:prstGeom prst="rect">
            <a:avLst/>
          </a:prstGeom>
          <a:solidFill>
            <a:srgbClr val="C8543D"/>
          </a:solidFill>
          <a:ln/>
        </p:spPr>
        <p:txBody>
          <a:bodyPr/>
          <a:lstStyle/>
          <a:p>
            <a:endParaRPr lang="en-US"/>
          </a:p>
        </p:txBody>
      </p:sp>
      <p:sp>
        <p:nvSpPr>
          <p:cNvPr id="15" name="Text 13"/>
          <p:cNvSpPr/>
          <p:nvPr/>
        </p:nvSpPr>
        <p:spPr>
          <a:xfrm>
            <a:off x="822960" y="3154680"/>
            <a:ext cx="5120640" cy="365760"/>
          </a:xfrm>
          <a:prstGeom prst="rect">
            <a:avLst/>
          </a:prstGeom>
          <a:noFill/>
          <a:ln/>
        </p:spPr>
        <p:txBody>
          <a:bodyPr wrap="square" lIns="0" tIns="0" rIns="0" bIns="0" rtlCol="0" anchor="ctr"/>
          <a:lstStyle/>
          <a:p>
            <a:pPr marL="0" indent="0">
              <a:buNone/>
            </a:pPr>
            <a:r>
              <a:rPr lang="en-US" sz="1300" b="1" dirty="0">
                <a:solidFill>
                  <a:srgbClr val="333F48"/>
                </a:solidFill>
                <a:latin typeface="Calibri" pitchFamily="34" charset="0"/>
                <a:ea typeface="Calibri" pitchFamily="34" charset="-122"/>
                <a:cs typeface="Calibri" pitchFamily="34" charset="-120"/>
              </a:rPr>
              <a:t>Concept-layer audit still DDI-only</a:t>
            </a:r>
            <a:endParaRPr lang="en-US" sz="1300" dirty="0"/>
          </a:p>
        </p:txBody>
      </p:sp>
      <p:sp>
        <p:nvSpPr>
          <p:cNvPr id="16" name="Text 14"/>
          <p:cNvSpPr/>
          <p:nvPr/>
        </p:nvSpPr>
        <p:spPr>
          <a:xfrm>
            <a:off x="822960" y="3520440"/>
            <a:ext cx="5120640" cy="365760"/>
          </a:xfrm>
          <a:prstGeom prst="rect">
            <a:avLst/>
          </a:prstGeom>
          <a:noFill/>
          <a:ln/>
        </p:spPr>
        <p:txBody>
          <a:bodyPr wrap="square" lIns="0" tIns="0" rIns="0" bIns="0" rtlCol="0" anchor="ctr"/>
          <a:lstStyle/>
          <a:p>
            <a:pPr marL="0" indent="0">
              <a:buNone/>
            </a:pPr>
            <a:r>
              <a:rPr lang="en-US" sz="1200" i="1" dirty="0">
                <a:solidFill>
                  <a:srgbClr val="1A1A1A"/>
                </a:solidFill>
                <a:latin typeface="Calibri" pitchFamily="34" charset="0"/>
                <a:ea typeface="Calibri" pitchFamily="34" charset="-122"/>
                <a:cs typeface="Calibri" pitchFamily="34" charset="-120"/>
              </a:rPr>
              <a:t>Fitz17k has no dermoscopic concept GT and the concept heatmap is unchanged</a:t>
            </a:r>
            <a:endParaRPr lang="en-US" sz="1200" dirty="0"/>
          </a:p>
        </p:txBody>
      </p:sp>
      <p:sp>
        <p:nvSpPr>
          <p:cNvPr id="17" name="Shape 15"/>
          <p:cNvSpPr/>
          <p:nvPr/>
        </p:nvSpPr>
        <p:spPr>
          <a:xfrm>
            <a:off x="548640" y="4069080"/>
            <a:ext cx="5486400" cy="868680"/>
          </a:xfrm>
          <a:prstGeom prst="rect">
            <a:avLst/>
          </a:prstGeom>
          <a:solidFill>
            <a:srgbClr val="F8F3E6"/>
          </a:solidFill>
          <a:ln/>
        </p:spPr>
        <p:txBody>
          <a:bodyPr/>
          <a:lstStyle/>
          <a:p>
            <a:endParaRPr lang="en-US"/>
          </a:p>
        </p:txBody>
      </p:sp>
      <p:sp>
        <p:nvSpPr>
          <p:cNvPr id="18" name="Shape 16"/>
          <p:cNvSpPr/>
          <p:nvPr/>
        </p:nvSpPr>
        <p:spPr>
          <a:xfrm>
            <a:off x="548640" y="4069080"/>
            <a:ext cx="73152" cy="868680"/>
          </a:xfrm>
          <a:prstGeom prst="rect">
            <a:avLst/>
          </a:prstGeom>
          <a:solidFill>
            <a:srgbClr val="C8543D"/>
          </a:solidFill>
          <a:ln/>
        </p:spPr>
        <p:txBody>
          <a:bodyPr/>
          <a:lstStyle/>
          <a:p>
            <a:endParaRPr lang="en-US"/>
          </a:p>
        </p:txBody>
      </p:sp>
      <p:sp>
        <p:nvSpPr>
          <p:cNvPr id="19" name="Text 17"/>
          <p:cNvSpPr/>
          <p:nvPr/>
        </p:nvSpPr>
        <p:spPr>
          <a:xfrm>
            <a:off x="822960" y="4160520"/>
            <a:ext cx="5120640" cy="365760"/>
          </a:xfrm>
          <a:prstGeom prst="rect">
            <a:avLst/>
          </a:prstGeom>
          <a:noFill/>
          <a:ln/>
        </p:spPr>
        <p:txBody>
          <a:bodyPr wrap="square" lIns="0" tIns="0" rIns="0" bIns="0" rtlCol="0" anchor="ctr"/>
          <a:lstStyle/>
          <a:p>
            <a:pPr marL="0" indent="0">
              <a:buNone/>
            </a:pPr>
            <a:r>
              <a:rPr lang="en-US" sz="1300" b="1" dirty="0">
                <a:solidFill>
                  <a:srgbClr val="333F48"/>
                </a:solidFill>
                <a:latin typeface="Calibri" pitchFamily="34" charset="0"/>
                <a:ea typeface="Calibri" pitchFamily="34" charset="-122"/>
                <a:cs typeface="Calibri" pitchFamily="34" charset="-120"/>
              </a:rPr>
              <a:t>Fitz17k labels are self-reported</a:t>
            </a:r>
            <a:endParaRPr lang="en-US" sz="1300" dirty="0"/>
          </a:p>
        </p:txBody>
      </p:sp>
      <p:sp>
        <p:nvSpPr>
          <p:cNvPr id="20" name="Text 18"/>
          <p:cNvSpPr/>
          <p:nvPr/>
        </p:nvSpPr>
        <p:spPr>
          <a:xfrm>
            <a:off x="822960" y="4526280"/>
            <a:ext cx="5120640" cy="365760"/>
          </a:xfrm>
          <a:prstGeom prst="rect">
            <a:avLst/>
          </a:prstGeom>
          <a:noFill/>
          <a:ln/>
        </p:spPr>
        <p:txBody>
          <a:bodyPr wrap="square" lIns="0" tIns="0" rIns="0" bIns="0" rtlCol="0" anchor="ctr"/>
          <a:lstStyle/>
          <a:p>
            <a:pPr marL="0" indent="0">
              <a:buNone/>
            </a:pPr>
            <a:r>
              <a:rPr lang="en-US" sz="1200" i="1" dirty="0">
                <a:solidFill>
                  <a:srgbClr val="1A1A1A"/>
                </a:solidFill>
                <a:latin typeface="Calibri" pitchFamily="34" charset="0"/>
                <a:ea typeface="Calibri" pitchFamily="34" charset="-122"/>
                <a:cs typeface="Calibri" pitchFamily="34" charset="-120"/>
              </a:rPr>
              <a:t>Self-report + ITA correction, not expert-annotated like DDI</a:t>
            </a:r>
            <a:endParaRPr lang="en-US" sz="1200" dirty="0"/>
          </a:p>
        </p:txBody>
      </p:sp>
      <p:sp>
        <p:nvSpPr>
          <p:cNvPr id="21" name="Shape 19"/>
          <p:cNvSpPr/>
          <p:nvPr/>
        </p:nvSpPr>
        <p:spPr>
          <a:xfrm>
            <a:off x="548640" y="5074920"/>
            <a:ext cx="5486400" cy="868680"/>
          </a:xfrm>
          <a:prstGeom prst="rect">
            <a:avLst/>
          </a:prstGeom>
          <a:solidFill>
            <a:srgbClr val="F8F3E6"/>
          </a:solidFill>
          <a:ln/>
        </p:spPr>
        <p:txBody>
          <a:bodyPr/>
          <a:lstStyle/>
          <a:p>
            <a:endParaRPr lang="en-US"/>
          </a:p>
        </p:txBody>
      </p:sp>
      <p:sp>
        <p:nvSpPr>
          <p:cNvPr id="22" name="Shape 20"/>
          <p:cNvSpPr/>
          <p:nvPr/>
        </p:nvSpPr>
        <p:spPr>
          <a:xfrm>
            <a:off x="548640" y="5074920"/>
            <a:ext cx="73152" cy="868680"/>
          </a:xfrm>
          <a:prstGeom prst="rect">
            <a:avLst/>
          </a:prstGeom>
          <a:solidFill>
            <a:srgbClr val="C8543D"/>
          </a:solidFill>
          <a:ln/>
        </p:spPr>
        <p:txBody>
          <a:bodyPr/>
          <a:lstStyle/>
          <a:p>
            <a:endParaRPr lang="en-US"/>
          </a:p>
        </p:txBody>
      </p:sp>
      <p:sp>
        <p:nvSpPr>
          <p:cNvPr id="23" name="Text 21"/>
          <p:cNvSpPr/>
          <p:nvPr/>
        </p:nvSpPr>
        <p:spPr>
          <a:xfrm>
            <a:off x="822960" y="5166360"/>
            <a:ext cx="5120640" cy="365760"/>
          </a:xfrm>
          <a:prstGeom prst="rect">
            <a:avLst/>
          </a:prstGeom>
          <a:noFill/>
          <a:ln/>
        </p:spPr>
        <p:txBody>
          <a:bodyPr wrap="square" lIns="0" tIns="0" rIns="0" bIns="0" rtlCol="0" anchor="ctr"/>
          <a:lstStyle/>
          <a:p>
            <a:pPr marL="0" indent="0">
              <a:buNone/>
            </a:pPr>
            <a:r>
              <a:rPr lang="en-US" sz="1300" b="1" dirty="0">
                <a:solidFill>
                  <a:srgbClr val="333F48"/>
                </a:solidFill>
                <a:latin typeface="Calibri" pitchFamily="34" charset="0"/>
                <a:ea typeface="Calibri" pitchFamily="34" charset="-122"/>
                <a:cs typeface="Calibri" pitchFamily="34" charset="-120"/>
              </a:rPr>
              <a:t>Pooled bootstrap CIs not regenerated</a:t>
            </a:r>
            <a:endParaRPr lang="en-US" sz="1300" dirty="0"/>
          </a:p>
        </p:txBody>
      </p:sp>
      <p:sp>
        <p:nvSpPr>
          <p:cNvPr id="24" name="Text 22"/>
          <p:cNvSpPr/>
          <p:nvPr/>
        </p:nvSpPr>
        <p:spPr>
          <a:xfrm>
            <a:off x="822960" y="5532120"/>
            <a:ext cx="5120640" cy="365760"/>
          </a:xfrm>
          <a:prstGeom prst="rect">
            <a:avLst/>
          </a:prstGeom>
          <a:noFill/>
          <a:ln/>
        </p:spPr>
        <p:txBody>
          <a:bodyPr wrap="square" lIns="0" tIns="0" rIns="0" bIns="0" rtlCol="0" anchor="ctr"/>
          <a:lstStyle/>
          <a:p>
            <a:pPr marL="0" indent="0">
              <a:buNone/>
            </a:pPr>
            <a:r>
              <a:rPr lang="en-US" sz="1200" i="1" dirty="0">
                <a:solidFill>
                  <a:srgbClr val="1A1A1A"/>
                </a:solidFill>
                <a:latin typeface="Calibri" pitchFamily="34" charset="0"/>
                <a:ea typeface="Calibri" pitchFamily="34" charset="-122"/>
                <a:cs typeface="Calibri" pitchFamily="34" charset="-120"/>
              </a:rPr>
              <a:t>Per-bucket CIs were DDI-only; pooled CIs are a clean next step</a:t>
            </a:r>
            <a:endParaRPr lang="en-US" sz="1200" dirty="0"/>
          </a:p>
        </p:txBody>
      </p:sp>
      <p:sp>
        <p:nvSpPr>
          <p:cNvPr id="25" name="Text 23"/>
          <p:cNvSpPr/>
          <p:nvPr/>
        </p:nvSpPr>
        <p:spPr>
          <a:xfrm>
            <a:off x="6400800" y="1508760"/>
            <a:ext cx="5486400" cy="457200"/>
          </a:xfrm>
          <a:prstGeom prst="rect">
            <a:avLst/>
          </a:prstGeom>
          <a:noFill/>
          <a:ln/>
        </p:spPr>
        <p:txBody>
          <a:bodyPr wrap="square" lIns="0" tIns="0" rIns="0" bIns="0" rtlCol="0" anchor="ctr"/>
          <a:lstStyle/>
          <a:p>
            <a:pPr marL="0" indent="0">
              <a:buNone/>
            </a:pPr>
            <a:r>
              <a:rPr lang="en-US" sz="2000" b="1" dirty="0">
                <a:solidFill>
                  <a:srgbClr val="333F48"/>
                </a:solidFill>
                <a:latin typeface="Georgia" pitchFamily="34" charset="0"/>
                <a:ea typeface="Georgia" pitchFamily="34" charset="-122"/>
                <a:cs typeface="Georgia" pitchFamily="34" charset="-120"/>
              </a:rPr>
              <a:t>Future directions</a:t>
            </a:r>
            <a:endParaRPr lang="en-US" sz="2000" dirty="0"/>
          </a:p>
        </p:txBody>
      </p:sp>
      <p:sp>
        <p:nvSpPr>
          <p:cNvPr id="26" name="Shape 24"/>
          <p:cNvSpPr/>
          <p:nvPr/>
        </p:nvSpPr>
        <p:spPr>
          <a:xfrm>
            <a:off x="6400800" y="2057400"/>
            <a:ext cx="5486400" cy="1188720"/>
          </a:xfrm>
          <a:prstGeom prst="rect">
            <a:avLst/>
          </a:prstGeom>
          <a:solidFill>
            <a:srgbClr val="FFFFFF"/>
          </a:solidFill>
          <a:ln w="6350">
            <a:solidFill>
              <a:srgbClr val="D9DEE3"/>
            </a:solidFill>
            <a:prstDash val="solid"/>
          </a:ln>
        </p:spPr>
        <p:txBody>
          <a:bodyPr/>
          <a:lstStyle/>
          <a:p>
            <a:endParaRPr lang="en-US"/>
          </a:p>
        </p:txBody>
      </p:sp>
      <p:sp>
        <p:nvSpPr>
          <p:cNvPr id="27" name="Text 25"/>
          <p:cNvSpPr/>
          <p:nvPr/>
        </p:nvSpPr>
        <p:spPr>
          <a:xfrm>
            <a:off x="6492240" y="2148840"/>
            <a:ext cx="685800" cy="1005840"/>
          </a:xfrm>
          <a:prstGeom prst="rect">
            <a:avLst/>
          </a:prstGeom>
          <a:noFill/>
          <a:ln/>
        </p:spPr>
        <p:txBody>
          <a:bodyPr wrap="square" lIns="0" tIns="0" rIns="0" bIns="0" rtlCol="0" anchor="ctr"/>
          <a:lstStyle/>
          <a:p>
            <a:pPr marL="0" indent="0" algn="ctr">
              <a:buNone/>
            </a:pPr>
            <a:r>
              <a:rPr lang="en-US" sz="4000" b="1" dirty="0">
                <a:solidFill>
                  <a:srgbClr val="BF5700"/>
                </a:solidFill>
                <a:latin typeface="Georgia" pitchFamily="34" charset="0"/>
                <a:ea typeface="Georgia" pitchFamily="34" charset="-122"/>
                <a:cs typeface="Georgia" pitchFamily="34" charset="-120"/>
              </a:rPr>
              <a:t>1</a:t>
            </a:r>
            <a:endParaRPr lang="en-US" sz="4000" dirty="0"/>
          </a:p>
        </p:txBody>
      </p:sp>
      <p:sp>
        <p:nvSpPr>
          <p:cNvPr id="28" name="Text 26"/>
          <p:cNvSpPr/>
          <p:nvPr/>
        </p:nvSpPr>
        <p:spPr>
          <a:xfrm>
            <a:off x="7223760" y="2221992"/>
            <a:ext cx="4572000" cy="411480"/>
          </a:xfrm>
          <a:prstGeom prst="rect">
            <a:avLst/>
          </a:prstGeom>
          <a:noFill/>
          <a:ln/>
        </p:spPr>
        <p:txBody>
          <a:bodyPr wrap="square" lIns="0" tIns="0" rIns="0" bIns="0" rtlCol="0" anchor="ctr"/>
          <a:lstStyle/>
          <a:p>
            <a:pPr marL="0" indent="0">
              <a:buNone/>
            </a:pPr>
            <a:r>
              <a:rPr lang="en-US" sz="1500" b="1" dirty="0">
                <a:solidFill>
                  <a:srgbClr val="333F48"/>
                </a:solidFill>
                <a:latin typeface="Georgia" pitchFamily="34" charset="0"/>
                <a:ea typeface="Georgia" pitchFamily="34" charset="-122"/>
                <a:cs typeface="Georgia" pitchFamily="34" charset="-120"/>
              </a:rPr>
              <a:t>Targeted concept retraining</a:t>
            </a:r>
            <a:endParaRPr lang="en-US" sz="1500" dirty="0"/>
          </a:p>
        </p:txBody>
      </p:sp>
      <p:sp>
        <p:nvSpPr>
          <p:cNvPr id="29" name="Text 27"/>
          <p:cNvSpPr/>
          <p:nvPr/>
        </p:nvSpPr>
        <p:spPr>
          <a:xfrm>
            <a:off x="7223760" y="2624328"/>
            <a:ext cx="4572000" cy="59436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Re-label blue-white-veil + pigment on Fitzpatrick V-VI imagery</a:t>
            </a:r>
            <a:endParaRPr lang="en-US" sz="1200" dirty="0"/>
          </a:p>
        </p:txBody>
      </p:sp>
      <p:sp>
        <p:nvSpPr>
          <p:cNvPr id="30" name="Shape 28"/>
          <p:cNvSpPr/>
          <p:nvPr/>
        </p:nvSpPr>
        <p:spPr>
          <a:xfrm>
            <a:off x="6400800" y="3383280"/>
            <a:ext cx="5486400" cy="1188720"/>
          </a:xfrm>
          <a:prstGeom prst="rect">
            <a:avLst/>
          </a:prstGeom>
          <a:solidFill>
            <a:srgbClr val="FFFFFF"/>
          </a:solidFill>
          <a:ln w="6350">
            <a:solidFill>
              <a:srgbClr val="D9DEE3"/>
            </a:solidFill>
            <a:prstDash val="solid"/>
          </a:ln>
        </p:spPr>
        <p:txBody>
          <a:bodyPr/>
          <a:lstStyle/>
          <a:p>
            <a:endParaRPr lang="en-US"/>
          </a:p>
        </p:txBody>
      </p:sp>
      <p:sp>
        <p:nvSpPr>
          <p:cNvPr id="31" name="Text 29"/>
          <p:cNvSpPr/>
          <p:nvPr/>
        </p:nvSpPr>
        <p:spPr>
          <a:xfrm>
            <a:off x="6492240" y="3474720"/>
            <a:ext cx="685800" cy="1005840"/>
          </a:xfrm>
          <a:prstGeom prst="rect">
            <a:avLst/>
          </a:prstGeom>
          <a:noFill/>
          <a:ln/>
        </p:spPr>
        <p:txBody>
          <a:bodyPr wrap="square" lIns="0" tIns="0" rIns="0" bIns="0" rtlCol="0" anchor="ctr"/>
          <a:lstStyle/>
          <a:p>
            <a:pPr marL="0" indent="0" algn="ctr">
              <a:buNone/>
            </a:pPr>
            <a:r>
              <a:rPr lang="en-US" sz="4000" b="1" dirty="0">
                <a:solidFill>
                  <a:srgbClr val="BF5700"/>
                </a:solidFill>
                <a:latin typeface="Georgia" pitchFamily="34" charset="0"/>
                <a:ea typeface="Georgia" pitchFamily="34" charset="-122"/>
                <a:cs typeface="Georgia" pitchFamily="34" charset="-120"/>
              </a:rPr>
              <a:t>2</a:t>
            </a:r>
            <a:endParaRPr lang="en-US" sz="4000" dirty="0"/>
          </a:p>
        </p:txBody>
      </p:sp>
      <p:sp>
        <p:nvSpPr>
          <p:cNvPr id="32" name="Text 30"/>
          <p:cNvSpPr/>
          <p:nvPr/>
        </p:nvSpPr>
        <p:spPr>
          <a:xfrm>
            <a:off x="7223760" y="3547872"/>
            <a:ext cx="4572000" cy="411480"/>
          </a:xfrm>
          <a:prstGeom prst="rect">
            <a:avLst/>
          </a:prstGeom>
          <a:noFill/>
          <a:ln/>
        </p:spPr>
        <p:txBody>
          <a:bodyPr wrap="square" lIns="0" tIns="0" rIns="0" bIns="0" rtlCol="0" anchor="ctr"/>
          <a:lstStyle/>
          <a:p>
            <a:pPr marL="0" indent="0">
              <a:buNone/>
            </a:pPr>
            <a:r>
              <a:rPr lang="en-US" sz="1500" b="1" dirty="0">
                <a:solidFill>
                  <a:srgbClr val="333F48"/>
                </a:solidFill>
                <a:latin typeface="Georgia" pitchFamily="34" charset="0"/>
                <a:ea typeface="Georgia" pitchFamily="34" charset="-122"/>
                <a:cs typeface="Georgia" pitchFamily="34" charset="-120"/>
              </a:rPr>
              <a:t>Per-bucket head recalibration</a:t>
            </a:r>
            <a:endParaRPr lang="en-US" sz="1500" dirty="0"/>
          </a:p>
        </p:txBody>
      </p:sp>
      <p:sp>
        <p:nvSpPr>
          <p:cNvPr id="33" name="Text 31"/>
          <p:cNvSpPr/>
          <p:nvPr/>
        </p:nvSpPr>
        <p:spPr>
          <a:xfrm>
            <a:off x="7223760" y="3950208"/>
            <a:ext cx="4572000" cy="59436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Temperature / Platt scaling on dark-skin examples closes the ECE gap</a:t>
            </a:r>
            <a:endParaRPr lang="en-US" sz="1200" dirty="0"/>
          </a:p>
        </p:txBody>
      </p:sp>
      <p:sp>
        <p:nvSpPr>
          <p:cNvPr id="34" name="Shape 32"/>
          <p:cNvSpPr/>
          <p:nvPr/>
        </p:nvSpPr>
        <p:spPr>
          <a:xfrm>
            <a:off x="6400800" y="4709160"/>
            <a:ext cx="5486400" cy="1188720"/>
          </a:xfrm>
          <a:prstGeom prst="rect">
            <a:avLst/>
          </a:prstGeom>
          <a:solidFill>
            <a:srgbClr val="FFFFFF"/>
          </a:solidFill>
          <a:ln w="6350">
            <a:solidFill>
              <a:srgbClr val="D9DEE3"/>
            </a:solidFill>
            <a:prstDash val="solid"/>
          </a:ln>
        </p:spPr>
        <p:txBody>
          <a:bodyPr/>
          <a:lstStyle/>
          <a:p>
            <a:endParaRPr lang="en-US"/>
          </a:p>
        </p:txBody>
      </p:sp>
      <p:sp>
        <p:nvSpPr>
          <p:cNvPr id="35" name="Text 33"/>
          <p:cNvSpPr/>
          <p:nvPr/>
        </p:nvSpPr>
        <p:spPr>
          <a:xfrm>
            <a:off x="6492240" y="4800600"/>
            <a:ext cx="685800" cy="1005840"/>
          </a:xfrm>
          <a:prstGeom prst="rect">
            <a:avLst/>
          </a:prstGeom>
          <a:noFill/>
          <a:ln/>
        </p:spPr>
        <p:txBody>
          <a:bodyPr wrap="square" lIns="0" tIns="0" rIns="0" bIns="0" rtlCol="0" anchor="ctr"/>
          <a:lstStyle/>
          <a:p>
            <a:pPr marL="0" indent="0" algn="ctr">
              <a:buNone/>
            </a:pPr>
            <a:r>
              <a:rPr lang="en-US" sz="4000" b="1" dirty="0">
                <a:solidFill>
                  <a:srgbClr val="BF5700"/>
                </a:solidFill>
                <a:latin typeface="Georgia" pitchFamily="34" charset="0"/>
                <a:ea typeface="Georgia" pitchFamily="34" charset="-122"/>
                <a:cs typeface="Georgia" pitchFamily="34" charset="-120"/>
              </a:rPr>
              <a:t>3</a:t>
            </a:r>
            <a:endParaRPr lang="en-US" sz="4000" dirty="0"/>
          </a:p>
        </p:txBody>
      </p:sp>
      <p:sp>
        <p:nvSpPr>
          <p:cNvPr id="36" name="Text 34"/>
          <p:cNvSpPr/>
          <p:nvPr/>
        </p:nvSpPr>
        <p:spPr>
          <a:xfrm>
            <a:off x="7223760" y="4873752"/>
            <a:ext cx="4572000" cy="411480"/>
          </a:xfrm>
          <a:prstGeom prst="rect">
            <a:avLst/>
          </a:prstGeom>
          <a:noFill/>
          <a:ln/>
        </p:spPr>
        <p:txBody>
          <a:bodyPr wrap="square" lIns="0" tIns="0" rIns="0" bIns="0" rtlCol="0" anchor="ctr"/>
          <a:lstStyle/>
          <a:p>
            <a:pPr marL="0" indent="0">
              <a:buNone/>
            </a:pPr>
            <a:r>
              <a:rPr lang="en-US" sz="1500" b="1" dirty="0">
                <a:solidFill>
                  <a:srgbClr val="333F48"/>
                </a:solidFill>
                <a:latin typeface="Georgia" pitchFamily="34" charset="0"/>
                <a:ea typeface="Georgia" pitchFamily="34" charset="-122"/>
                <a:cs typeface="Georgia" pitchFamily="34" charset="-120"/>
              </a:rPr>
              <a:t>Learned linear probe on BiomedCLIP</a:t>
            </a:r>
            <a:endParaRPr lang="en-US" sz="1500" dirty="0"/>
          </a:p>
        </p:txBody>
      </p:sp>
      <p:sp>
        <p:nvSpPr>
          <p:cNvPr id="37" name="Text 35"/>
          <p:cNvSpPr/>
          <p:nvPr/>
        </p:nvSpPr>
        <p:spPr>
          <a:xfrm>
            <a:off x="7223760" y="5276088"/>
            <a:ext cx="4572000" cy="59436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Quantify prompt-design vs. representation error</a:t>
            </a:r>
            <a:endParaRPr lang="en-US" sz="1200" dirty="0"/>
          </a:p>
        </p:txBody>
      </p:sp>
      <p:sp>
        <p:nvSpPr>
          <p:cNvPr id="38" name="Shape 36"/>
          <p:cNvSpPr/>
          <p:nvPr/>
        </p:nvSpPr>
        <p:spPr>
          <a:xfrm>
            <a:off x="548640" y="6080760"/>
            <a:ext cx="11247120" cy="502920"/>
          </a:xfrm>
          <a:prstGeom prst="rect">
            <a:avLst/>
          </a:prstGeom>
          <a:solidFill>
            <a:srgbClr val="333F48"/>
          </a:solidFill>
          <a:ln/>
        </p:spPr>
        <p:txBody>
          <a:bodyPr/>
          <a:lstStyle/>
          <a:p>
            <a:endParaRPr lang="en-US"/>
          </a:p>
        </p:txBody>
      </p:sp>
      <p:sp>
        <p:nvSpPr>
          <p:cNvPr id="39" name="Text 37"/>
          <p:cNvSpPr/>
          <p:nvPr/>
        </p:nvSpPr>
        <p:spPr>
          <a:xfrm>
            <a:off x="731520" y="6089904"/>
            <a:ext cx="10972800" cy="484632"/>
          </a:xfrm>
          <a:prstGeom prst="rect">
            <a:avLst/>
          </a:prstGeom>
          <a:noFill/>
          <a:ln/>
        </p:spPr>
        <p:txBody>
          <a:bodyPr wrap="square" lIns="0" tIns="0" rIns="0" bIns="0" rtlCol="0" anchor="ctr"/>
          <a:lstStyle/>
          <a:p>
            <a:pPr marL="0" indent="0" algn="ctr">
              <a:buNone/>
            </a:pPr>
            <a:r>
              <a:rPr lang="en-US" sz="1350" i="1" dirty="0">
                <a:solidFill>
                  <a:srgbClr val="E87722"/>
                </a:solidFill>
                <a:latin typeface="Georgia" pitchFamily="34" charset="0"/>
                <a:ea typeface="Georgia" pitchFamily="34" charset="-122"/>
                <a:cs typeface="Georgia" pitchFamily="34" charset="-120"/>
              </a:rPr>
              <a:t>The CBM architecture turns a fairness gap into a concept-retraining task and not a dataset-collection moonshot.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BF5700"/>
          </a:solidFill>
          <a:ln/>
        </p:spPr>
        <p:txBody>
          <a:bodyPr/>
          <a:lstStyle/>
          <a:p>
            <a:endParaRPr lang="en-US"/>
          </a:p>
        </p:txBody>
      </p:sp>
      <p:sp>
        <p:nvSpPr>
          <p:cNvPr id="3" name="Text 1"/>
          <p:cNvSpPr/>
          <p:nvPr/>
        </p:nvSpPr>
        <p:spPr>
          <a:xfrm>
            <a:off x="548640" y="502920"/>
            <a:ext cx="9144000" cy="274320"/>
          </a:xfrm>
          <a:prstGeom prst="rect">
            <a:avLst/>
          </a:prstGeom>
          <a:noFill/>
          <a:ln/>
        </p:spPr>
        <p:txBody>
          <a:bodyPr wrap="square" lIns="0" tIns="0" rIns="0" bIns="0" rtlCol="0" anchor="ctr"/>
          <a:lstStyle/>
          <a:p>
            <a:pPr marL="0" indent="0">
              <a:buNone/>
            </a:pPr>
            <a:r>
              <a:rPr lang="en-US" sz="1200" b="1" kern="0" spc="600" dirty="0">
                <a:solidFill>
                  <a:srgbClr val="BF5700"/>
                </a:solidFill>
                <a:latin typeface="Calibri" pitchFamily="34" charset="0"/>
                <a:ea typeface="Calibri" pitchFamily="34" charset="-122"/>
                <a:cs typeface="Calibri" pitchFamily="34" charset="-120"/>
              </a:rPr>
              <a:t>CONTRIBUTIONS</a:t>
            </a:r>
            <a:endParaRPr lang="en-US" sz="1200" dirty="0"/>
          </a:p>
        </p:txBody>
      </p:sp>
      <p:sp>
        <p:nvSpPr>
          <p:cNvPr id="4" name="Text 2"/>
          <p:cNvSpPr/>
          <p:nvPr/>
        </p:nvSpPr>
        <p:spPr>
          <a:xfrm>
            <a:off x="548640" y="777240"/>
            <a:ext cx="10972800" cy="594360"/>
          </a:xfrm>
          <a:prstGeom prst="rect">
            <a:avLst/>
          </a:prstGeom>
          <a:noFill/>
          <a:ln/>
        </p:spPr>
        <p:txBody>
          <a:bodyPr wrap="square" lIns="0" tIns="0" rIns="0" bIns="0" rtlCol="0" anchor="ctr"/>
          <a:lstStyle/>
          <a:p>
            <a:pPr marL="0" indent="0">
              <a:buNone/>
            </a:pPr>
            <a:r>
              <a:rPr lang="en-US" sz="2800" b="1" dirty="0">
                <a:solidFill>
                  <a:srgbClr val="333F48"/>
                </a:solidFill>
                <a:latin typeface="Georgia" pitchFamily="34" charset="0"/>
                <a:ea typeface="Georgia" pitchFamily="34" charset="-122"/>
                <a:cs typeface="Georgia" pitchFamily="34" charset="-120"/>
              </a:rPr>
              <a:t>Four takeaways from this audit</a:t>
            </a:r>
            <a:endParaRPr lang="en-US" sz="2800" dirty="0"/>
          </a:p>
        </p:txBody>
      </p:sp>
      <p:sp>
        <p:nvSpPr>
          <p:cNvPr id="5" name="Shape 3"/>
          <p:cNvSpPr/>
          <p:nvPr/>
        </p:nvSpPr>
        <p:spPr>
          <a:xfrm>
            <a:off x="548640" y="1600200"/>
            <a:ext cx="11247120" cy="868680"/>
          </a:xfrm>
          <a:prstGeom prst="rect">
            <a:avLst/>
          </a:prstGeom>
          <a:solidFill>
            <a:srgbClr val="F8F3E6"/>
          </a:solidFill>
          <a:ln/>
        </p:spPr>
        <p:txBody>
          <a:bodyPr/>
          <a:lstStyle/>
          <a:p>
            <a:endParaRPr lang="en-US"/>
          </a:p>
        </p:txBody>
      </p:sp>
      <p:sp>
        <p:nvSpPr>
          <p:cNvPr id="6" name="Shape 4"/>
          <p:cNvSpPr/>
          <p:nvPr/>
        </p:nvSpPr>
        <p:spPr>
          <a:xfrm>
            <a:off x="548640" y="1600200"/>
            <a:ext cx="73152" cy="868680"/>
          </a:xfrm>
          <a:prstGeom prst="rect">
            <a:avLst/>
          </a:prstGeom>
          <a:solidFill>
            <a:srgbClr val="BF5700"/>
          </a:solidFill>
          <a:ln/>
        </p:spPr>
        <p:txBody>
          <a:bodyPr/>
          <a:lstStyle/>
          <a:p>
            <a:endParaRPr lang="en-US"/>
          </a:p>
        </p:txBody>
      </p:sp>
      <p:sp>
        <p:nvSpPr>
          <p:cNvPr id="7" name="Text 5"/>
          <p:cNvSpPr/>
          <p:nvPr/>
        </p:nvSpPr>
        <p:spPr>
          <a:xfrm>
            <a:off x="822960" y="1709928"/>
            <a:ext cx="640080" cy="640080"/>
          </a:xfrm>
          <a:prstGeom prst="rect">
            <a:avLst/>
          </a:prstGeom>
          <a:noFill/>
          <a:ln/>
        </p:spPr>
        <p:txBody>
          <a:bodyPr wrap="square" lIns="0" tIns="0" rIns="0" bIns="0" rtlCol="0" anchor="ctr"/>
          <a:lstStyle/>
          <a:p>
            <a:pPr marL="0" indent="0" algn="l">
              <a:buNone/>
            </a:pPr>
            <a:r>
              <a:rPr lang="en-US" sz="3000" b="1" dirty="0">
                <a:solidFill>
                  <a:srgbClr val="BF5700"/>
                </a:solidFill>
                <a:latin typeface="Georgia" pitchFamily="34" charset="0"/>
                <a:ea typeface="Georgia" pitchFamily="34" charset="-122"/>
                <a:cs typeface="Georgia" pitchFamily="34" charset="-120"/>
              </a:rPr>
              <a:t>1</a:t>
            </a:r>
            <a:endParaRPr lang="en-US" sz="3000" dirty="0"/>
          </a:p>
        </p:txBody>
      </p:sp>
      <p:sp>
        <p:nvSpPr>
          <p:cNvPr id="8" name="Text 6"/>
          <p:cNvSpPr/>
          <p:nvPr/>
        </p:nvSpPr>
        <p:spPr>
          <a:xfrm>
            <a:off x="1463040" y="1691640"/>
            <a:ext cx="10241280" cy="365760"/>
          </a:xfrm>
          <a:prstGeom prst="rect">
            <a:avLst/>
          </a:prstGeom>
          <a:noFill/>
          <a:ln/>
        </p:spPr>
        <p:txBody>
          <a:bodyPr wrap="square" lIns="0" tIns="0" rIns="0" bIns="0" rtlCol="0" anchor="ctr"/>
          <a:lstStyle/>
          <a:p>
            <a:pPr marL="0" indent="0">
              <a:buNone/>
            </a:pPr>
            <a:r>
              <a:rPr lang="en-US" sz="1600" b="1" dirty="0">
                <a:solidFill>
                  <a:srgbClr val="333F48"/>
                </a:solidFill>
                <a:latin typeface="Georgia" pitchFamily="34" charset="0"/>
                <a:ea typeface="Georgia" pitchFamily="34" charset="-122"/>
                <a:cs typeface="Georgia" pitchFamily="34" charset="-120"/>
              </a:rPr>
              <a:t>Interpretable accuracy</a:t>
            </a:r>
            <a:endParaRPr lang="en-US" sz="1600" dirty="0"/>
          </a:p>
        </p:txBody>
      </p:sp>
      <p:sp>
        <p:nvSpPr>
          <p:cNvPr id="9" name="Text 7"/>
          <p:cNvSpPr/>
          <p:nvPr/>
        </p:nvSpPr>
        <p:spPr>
          <a:xfrm>
            <a:off x="1463040" y="2057400"/>
            <a:ext cx="10241280" cy="36576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CBM-LR matches the MLP head (AUROC 0.79 on Derm7pt) and the top-3 concepts alone reach 0.785.</a:t>
            </a:r>
            <a:endParaRPr lang="en-US" sz="1250" dirty="0"/>
          </a:p>
        </p:txBody>
      </p:sp>
      <p:sp>
        <p:nvSpPr>
          <p:cNvPr id="10" name="Shape 8"/>
          <p:cNvSpPr/>
          <p:nvPr/>
        </p:nvSpPr>
        <p:spPr>
          <a:xfrm>
            <a:off x="548640" y="2560320"/>
            <a:ext cx="11247120" cy="868680"/>
          </a:xfrm>
          <a:prstGeom prst="rect">
            <a:avLst/>
          </a:prstGeom>
          <a:solidFill>
            <a:srgbClr val="F8F3E6"/>
          </a:solidFill>
          <a:ln/>
        </p:spPr>
        <p:txBody>
          <a:bodyPr/>
          <a:lstStyle/>
          <a:p>
            <a:endParaRPr lang="en-US"/>
          </a:p>
        </p:txBody>
      </p:sp>
      <p:sp>
        <p:nvSpPr>
          <p:cNvPr id="11" name="Shape 9"/>
          <p:cNvSpPr/>
          <p:nvPr/>
        </p:nvSpPr>
        <p:spPr>
          <a:xfrm>
            <a:off x="548640" y="2560320"/>
            <a:ext cx="73152" cy="868680"/>
          </a:xfrm>
          <a:prstGeom prst="rect">
            <a:avLst/>
          </a:prstGeom>
          <a:solidFill>
            <a:srgbClr val="BF5700"/>
          </a:solidFill>
          <a:ln/>
        </p:spPr>
        <p:txBody>
          <a:bodyPr/>
          <a:lstStyle/>
          <a:p>
            <a:endParaRPr lang="en-US"/>
          </a:p>
        </p:txBody>
      </p:sp>
      <p:sp>
        <p:nvSpPr>
          <p:cNvPr id="12" name="Text 10"/>
          <p:cNvSpPr/>
          <p:nvPr/>
        </p:nvSpPr>
        <p:spPr>
          <a:xfrm>
            <a:off x="822960" y="2670048"/>
            <a:ext cx="640080" cy="640080"/>
          </a:xfrm>
          <a:prstGeom prst="rect">
            <a:avLst/>
          </a:prstGeom>
          <a:noFill/>
          <a:ln/>
        </p:spPr>
        <p:txBody>
          <a:bodyPr wrap="square" lIns="0" tIns="0" rIns="0" bIns="0" rtlCol="0" anchor="ctr"/>
          <a:lstStyle/>
          <a:p>
            <a:pPr marL="0" indent="0" algn="l">
              <a:buNone/>
            </a:pPr>
            <a:r>
              <a:rPr lang="en-US" sz="3000" b="1" dirty="0">
                <a:solidFill>
                  <a:srgbClr val="BF5700"/>
                </a:solidFill>
                <a:latin typeface="Georgia" pitchFamily="34" charset="0"/>
                <a:ea typeface="Georgia" pitchFamily="34" charset="-122"/>
                <a:cs typeface="Georgia" pitchFamily="34" charset="-120"/>
              </a:rPr>
              <a:t>2</a:t>
            </a:r>
            <a:endParaRPr lang="en-US" sz="3000" dirty="0"/>
          </a:p>
        </p:txBody>
      </p:sp>
      <p:sp>
        <p:nvSpPr>
          <p:cNvPr id="13" name="Text 11"/>
          <p:cNvSpPr/>
          <p:nvPr/>
        </p:nvSpPr>
        <p:spPr>
          <a:xfrm>
            <a:off x="1463040" y="2651760"/>
            <a:ext cx="10241280" cy="365760"/>
          </a:xfrm>
          <a:prstGeom prst="rect">
            <a:avLst/>
          </a:prstGeom>
          <a:noFill/>
          <a:ln/>
        </p:spPr>
        <p:txBody>
          <a:bodyPr wrap="square" lIns="0" tIns="0" rIns="0" bIns="0" rtlCol="0" anchor="ctr"/>
          <a:lstStyle/>
          <a:p>
            <a:pPr marL="0" indent="0">
              <a:buNone/>
            </a:pPr>
            <a:r>
              <a:rPr lang="en-US" sz="1600" b="1" dirty="0">
                <a:solidFill>
                  <a:srgbClr val="333F48"/>
                </a:solidFill>
                <a:latin typeface="Georgia" pitchFamily="34" charset="0"/>
                <a:ea typeface="Georgia" pitchFamily="34" charset="-122"/>
                <a:cs typeface="Georgia" pitchFamily="34" charset="-120"/>
              </a:rPr>
              <a:t>AUROC parity hides the real gap</a:t>
            </a:r>
            <a:endParaRPr lang="en-US" sz="1600" dirty="0"/>
          </a:p>
        </p:txBody>
      </p:sp>
      <p:sp>
        <p:nvSpPr>
          <p:cNvPr id="14" name="Text 12"/>
          <p:cNvSpPr/>
          <p:nvPr/>
        </p:nvSpPr>
        <p:spPr>
          <a:xfrm>
            <a:off x="1463040" y="3017520"/>
            <a:ext cx="10241280" cy="36576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On 4,976 pooled images AUROC is flat (0.67 / 0.66 / 0.67) but specificity drops 13 pts and ECE doubles on dark skin.</a:t>
            </a:r>
            <a:endParaRPr lang="en-US" sz="1250" dirty="0"/>
          </a:p>
        </p:txBody>
      </p:sp>
      <p:sp>
        <p:nvSpPr>
          <p:cNvPr id="15" name="Shape 13"/>
          <p:cNvSpPr/>
          <p:nvPr/>
        </p:nvSpPr>
        <p:spPr>
          <a:xfrm>
            <a:off x="548640" y="3520440"/>
            <a:ext cx="11247120" cy="868680"/>
          </a:xfrm>
          <a:prstGeom prst="rect">
            <a:avLst/>
          </a:prstGeom>
          <a:solidFill>
            <a:srgbClr val="F8F3E6"/>
          </a:solidFill>
          <a:ln/>
        </p:spPr>
        <p:txBody>
          <a:bodyPr/>
          <a:lstStyle/>
          <a:p>
            <a:endParaRPr lang="en-US"/>
          </a:p>
        </p:txBody>
      </p:sp>
      <p:sp>
        <p:nvSpPr>
          <p:cNvPr id="16" name="Shape 14"/>
          <p:cNvSpPr/>
          <p:nvPr/>
        </p:nvSpPr>
        <p:spPr>
          <a:xfrm>
            <a:off x="548640" y="3520440"/>
            <a:ext cx="73152" cy="868680"/>
          </a:xfrm>
          <a:prstGeom prst="rect">
            <a:avLst/>
          </a:prstGeom>
          <a:solidFill>
            <a:srgbClr val="BF5700"/>
          </a:solidFill>
          <a:ln/>
        </p:spPr>
        <p:txBody>
          <a:bodyPr/>
          <a:lstStyle/>
          <a:p>
            <a:endParaRPr lang="en-US"/>
          </a:p>
        </p:txBody>
      </p:sp>
      <p:sp>
        <p:nvSpPr>
          <p:cNvPr id="17" name="Text 15"/>
          <p:cNvSpPr/>
          <p:nvPr/>
        </p:nvSpPr>
        <p:spPr>
          <a:xfrm>
            <a:off x="822960" y="3630168"/>
            <a:ext cx="640080" cy="640080"/>
          </a:xfrm>
          <a:prstGeom prst="rect">
            <a:avLst/>
          </a:prstGeom>
          <a:noFill/>
          <a:ln/>
        </p:spPr>
        <p:txBody>
          <a:bodyPr wrap="square" lIns="0" tIns="0" rIns="0" bIns="0" rtlCol="0" anchor="ctr"/>
          <a:lstStyle/>
          <a:p>
            <a:pPr marL="0" indent="0" algn="l">
              <a:buNone/>
            </a:pPr>
            <a:r>
              <a:rPr lang="en-US" sz="3000" b="1" dirty="0">
                <a:solidFill>
                  <a:srgbClr val="BF5700"/>
                </a:solidFill>
                <a:latin typeface="Georgia" pitchFamily="34" charset="0"/>
                <a:ea typeface="Georgia" pitchFamily="34" charset="-122"/>
                <a:cs typeface="Georgia" pitchFamily="34" charset="-120"/>
              </a:rPr>
              <a:t>3</a:t>
            </a:r>
            <a:endParaRPr lang="en-US" sz="3000" dirty="0"/>
          </a:p>
        </p:txBody>
      </p:sp>
      <p:sp>
        <p:nvSpPr>
          <p:cNvPr id="18" name="Text 16"/>
          <p:cNvSpPr/>
          <p:nvPr/>
        </p:nvSpPr>
        <p:spPr>
          <a:xfrm>
            <a:off x="1463040" y="3611880"/>
            <a:ext cx="10241280" cy="365760"/>
          </a:xfrm>
          <a:prstGeom prst="rect">
            <a:avLst/>
          </a:prstGeom>
          <a:noFill/>
          <a:ln/>
        </p:spPr>
        <p:txBody>
          <a:bodyPr wrap="square" lIns="0" tIns="0" rIns="0" bIns="0" rtlCol="0" anchor="ctr"/>
          <a:lstStyle/>
          <a:p>
            <a:pPr marL="0" indent="0">
              <a:buNone/>
            </a:pPr>
            <a:r>
              <a:rPr lang="en-US" sz="1600" b="1" dirty="0">
                <a:solidFill>
                  <a:srgbClr val="333F48"/>
                </a:solidFill>
                <a:latin typeface="Georgia" pitchFamily="34" charset="0"/>
                <a:ea typeface="Georgia" pitchFamily="34" charset="-122"/>
                <a:cs typeface="Georgia" pitchFamily="34" charset="-120"/>
              </a:rPr>
              <a:t>Concept intervention localises the error budget</a:t>
            </a:r>
            <a:endParaRPr lang="en-US" sz="1600" dirty="0"/>
          </a:p>
        </p:txBody>
      </p:sp>
      <p:sp>
        <p:nvSpPr>
          <p:cNvPr id="19" name="Text 17"/>
          <p:cNvSpPr/>
          <p:nvPr/>
        </p:nvSpPr>
        <p:spPr>
          <a:xfrm>
            <a:off x="1463040" y="3977640"/>
            <a:ext cx="10241280" cy="36576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85.8 % of errors fix on one concept; two-thirds via blue-white veil which is a directly actionable remediation target.</a:t>
            </a:r>
            <a:endParaRPr lang="en-US" sz="1250" dirty="0"/>
          </a:p>
        </p:txBody>
      </p:sp>
      <p:sp>
        <p:nvSpPr>
          <p:cNvPr id="20" name="Shape 18"/>
          <p:cNvSpPr/>
          <p:nvPr/>
        </p:nvSpPr>
        <p:spPr>
          <a:xfrm>
            <a:off x="548640" y="4480560"/>
            <a:ext cx="11247120" cy="868680"/>
          </a:xfrm>
          <a:prstGeom prst="rect">
            <a:avLst/>
          </a:prstGeom>
          <a:solidFill>
            <a:srgbClr val="F8F3E6"/>
          </a:solidFill>
          <a:ln/>
        </p:spPr>
        <p:txBody>
          <a:bodyPr/>
          <a:lstStyle/>
          <a:p>
            <a:endParaRPr lang="en-US"/>
          </a:p>
        </p:txBody>
      </p:sp>
      <p:sp>
        <p:nvSpPr>
          <p:cNvPr id="21" name="Shape 19"/>
          <p:cNvSpPr/>
          <p:nvPr/>
        </p:nvSpPr>
        <p:spPr>
          <a:xfrm>
            <a:off x="548640" y="4480560"/>
            <a:ext cx="73152" cy="868680"/>
          </a:xfrm>
          <a:prstGeom prst="rect">
            <a:avLst/>
          </a:prstGeom>
          <a:solidFill>
            <a:srgbClr val="BF5700"/>
          </a:solidFill>
          <a:ln/>
        </p:spPr>
        <p:txBody>
          <a:bodyPr/>
          <a:lstStyle/>
          <a:p>
            <a:endParaRPr lang="en-US"/>
          </a:p>
        </p:txBody>
      </p:sp>
      <p:sp>
        <p:nvSpPr>
          <p:cNvPr id="22" name="Text 20"/>
          <p:cNvSpPr/>
          <p:nvPr/>
        </p:nvSpPr>
        <p:spPr>
          <a:xfrm>
            <a:off x="822960" y="4590288"/>
            <a:ext cx="640080" cy="640080"/>
          </a:xfrm>
          <a:prstGeom prst="rect">
            <a:avLst/>
          </a:prstGeom>
          <a:noFill/>
          <a:ln/>
        </p:spPr>
        <p:txBody>
          <a:bodyPr wrap="square" lIns="0" tIns="0" rIns="0" bIns="0" rtlCol="0" anchor="ctr"/>
          <a:lstStyle/>
          <a:p>
            <a:pPr marL="0" indent="0" algn="l">
              <a:buNone/>
            </a:pPr>
            <a:r>
              <a:rPr lang="en-US" sz="3000" b="1" dirty="0">
                <a:solidFill>
                  <a:srgbClr val="BF5700"/>
                </a:solidFill>
                <a:latin typeface="Georgia" pitchFamily="34" charset="0"/>
                <a:ea typeface="Georgia" pitchFamily="34" charset="-122"/>
                <a:cs typeface="Georgia" pitchFamily="34" charset="-120"/>
              </a:rPr>
              <a:t>4</a:t>
            </a:r>
            <a:endParaRPr lang="en-US" sz="3000" dirty="0"/>
          </a:p>
        </p:txBody>
      </p:sp>
      <p:sp>
        <p:nvSpPr>
          <p:cNvPr id="23" name="Text 21"/>
          <p:cNvSpPr/>
          <p:nvPr/>
        </p:nvSpPr>
        <p:spPr>
          <a:xfrm>
            <a:off x="1463040" y="4572000"/>
            <a:ext cx="10241280" cy="365760"/>
          </a:xfrm>
          <a:prstGeom prst="rect">
            <a:avLst/>
          </a:prstGeom>
          <a:noFill/>
          <a:ln/>
        </p:spPr>
        <p:txBody>
          <a:bodyPr wrap="square" lIns="0" tIns="0" rIns="0" bIns="0" rtlCol="0" anchor="ctr"/>
          <a:lstStyle/>
          <a:p>
            <a:pPr marL="0" indent="0">
              <a:buNone/>
            </a:pPr>
            <a:r>
              <a:rPr lang="en-US" sz="1600" b="1" dirty="0">
                <a:solidFill>
                  <a:srgbClr val="333F48"/>
                </a:solidFill>
                <a:latin typeface="Georgia" pitchFamily="34" charset="0"/>
                <a:ea typeface="Georgia" pitchFamily="34" charset="-122"/>
                <a:cs typeface="Georgia" pitchFamily="34" charset="-120"/>
              </a:rPr>
              <a:t>Faithful-by-construction explanations</a:t>
            </a:r>
            <a:endParaRPr lang="en-US" sz="1600" dirty="0"/>
          </a:p>
        </p:txBody>
      </p:sp>
      <p:sp>
        <p:nvSpPr>
          <p:cNvPr id="24" name="Text 22"/>
          <p:cNvSpPr/>
          <p:nvPr/>
        </p:nvSpPr>
        <p:spPr>
          <a:xfrm>
            <a:off x="1463040" y="4937760"/>
            <a:ext cx="10241280" cy="36576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Insertion fidelity 0.33 vs Grad-CAM 0.20 shows that the concept layer carries decision signal saliency cannot surface.</a:t>
            </a:r>
            <a:endParaRPr lang="en-US" sz="1250" dirty="0"/>
          </a:p>
        </p:txBody>
      </p:sp>
      <p:sp>
        <p:nvSpPr>
          <p:cNvPr id="25" name="Shape 23"/>
          <p:cNvSpPr/>
          <p:nvPr/>
        </p:nvSpPr>
        <p:spPr>
          <a:xfrm>
            <a:off x="548640" y="5669280"/>
            <a:ext cx="11247120" cy="914400"/>
          </a:xfrm>
          <a:prstGeom prst="rect">
            <a:avLst/>
          </a:prstGeom>
          <a:solidFill>
            <a:srgbClr val="333F48"/>
          </a:solidFill>
          <a:ln/>
        </p:spPr>
        <p:txBody>
          <a:bodyPr/>
          <a:lstStyle/>
          <a:p>
            <a:endParaRPr lang="en-US"/>
          </a:p>
        </p:txBody>
      </p:sp>
      <p:sp>
        <p:nvSpPr>
          <p:cNvPr id="26" name="Text 24"/>
          <p:cNvSpPr/>
          <p:nvPr/>
        </p:nvSpPr>
        <p:spPr>
          <a:xfrm>
            <a:off x="822960" y="5897880"/>
            <a:ext cx="7315200" cy="457200"/>
          </a:xfrm>
          <a:prstGeom prst="rect">
            <a:avLst/>
          </a:prstGeom>
          <a:noFill/>
          <a:ln/>
        </p:spPr>
        <p:txBody>
          <a:bodyPr wrap="square" lIns="0" tIns="0" rIns="0" bIns="0" rtlCol="0" anchor="ctr"/>
          <a:lstStyle/>
          <a:p>
            <a:pPr marL="0" indent="0" algn="l">
              <a:buNone/>
            </a:pPr>
            <a:r>
              <a:rPr lang="en-US" sz="2200" b="1" dirty="0">
                <a:solidFill>
                  <a:srgbClr val="FFFFFF"/>
                </a:solidFill>
                <a:latin typeface="Georgia" pitchFamily="34" charset="0"/>
                <a:ea typeface="Georgia" pitchFamily="34" charset="-122"/>
                <a:cs typeface="Georgia" pitchFamily="34" charset="-120"/>
              </a:rPr>
              <a:t>Thank you</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2476</Words>
  <Application>Microsoft Macintosh PowerPoint</Application>
  <PresentationFormat>Widescreen</PresentationFormat>
  <Paragraphs>282</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VLM-Powered CBM for Dermatology with a Fitzpatrick Fairness Audit</dc:title>
  <dc:subject>PptxGenJS Presentation</dc:subject>
  <dc:creator>Deepesh Khanna</dc:creator>
  <cp:lastModifiedBy>Deepesh Khanna</cp:lastModifiedBy>
  <cp:revision>26</cp:revision>
  <dcterms:created xsi:type="dcterms:W3CDTF">2026-04-23T01:02:05Z</dcterms:created>
  <dcterms:modified xsi:type="dcterms:W3CDTF">2026-04-23T02:52:17Z</dcterms:modified>
</cp:coreProperties>
</file>